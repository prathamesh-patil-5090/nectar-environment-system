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8778240" y="-2194560"/>
            <a:ext cx="5669280" cy="5669280"/>
          </a:xfrm>
          <a:prstGeom prst="ellipse">
            <a:avLst/>
          </a:prstGeom>
          <a:solidFill>
            <a:srgbClr val="8BE3FD">
              <a:alpha val="8000"/>
            </a:srgbClr>
          </a:solidFill>
          <a:ln/>
        </p:spPr>
      </p:sp>
      <p:sp>
        <p:nvSpPr>
          <p:cNvPr id="3" name="Shape 1"/>
          <p:cNvSpPr/>
          <p:nvPr/>
        </p:nvSpPr>
        <p:spPr>
          <a:xfrm>
            <a:off x="-2377440" y="4206240"/>
            <a:ext cx="4754880" cy="4754880"/>
          </a:xfrm>
          <a:prstGeom prst="ellipse">
            <a:avLst/>
          </a:prstGeom>
          <a:solidFill>
            <a:srgbClr val="8BE3FD">
              <a:alpha val="6000"/>
            </a:srgbClr>
          </a:solidFill>
          <a:ln/>
        </p:spPr>
      </p:sp>
      <p:pic>
        <p:nvPicPr>
          <p:cNvPr id="4" name="Image 0" descr="/home/claude/work/proposal2/assets/logo-cutout-cropped.png">    </p:cNvPr>
          <p:cNvPicPr>
            <a:picLocks noChangeAspect="1"/>
          </p:cNvPicPr>
          <p:nvPr/>
        </p:nvPicPr>
        <p:blipFill>
          <a:blip r:embed="rId1"/>
          <a:stretch>
            <a:fillRect/>
          </a:stretch>
        </p:blipFill>
        <p:spPr>
          <a:xfrm>
            <a:off x="822960" y="594360"/>
            <a:ext cx="566928" cy="512064"/>
          </a:xfrm>
          <a:prstGeom prst="rect">
            <a:avLst/>
          </a:prstGeom>
        </p:spPr>
      </p:pic>
      <p:sp>
        <p:nvSpPr>
          <p:cNvPr id="5" name="Text 2"/>
          <p:cNvSpPr/>
          <p:nvPr/>
        </p:nvSpPr>
        <p:spPr>
          <a:xfrm>
            <a:off x="1481328" y="621792"/>
            <a:ext cx="3657600" cy="457200"/>
          </a:xfrm>
          <a:prstGeom prst="rect">
            <a:avLst/>
          </a:prstGeom>
          <a:noFill/>
          <a:ln/>
        </p:spPr>
        <p:txBody>
          <a:bodyPr wrap="square" rtlCol="0" anchor="ctr"/>
          <a:lstStyle/>
          <a:p>
            <a:pPr indent="0" marL="0">
              <a:buNone/>
            </a:pPr>
            <a:r>
              <a:rPr lang="en-US" sz="2000" b="1" spc="300" kern="0" dirty="0">
                <a:solidFill>
                  <a:srgbClr val="FFFFFF"/>
                </a:solidFill>
                <a:latin typeface="Arial" pitchFamily="34" charset="0"/>
                <a:ea typeface="Arial" pitchFamily="34" charset="-122"/>
                <a:cs typeface="Arial" pitchFamily="34" charset="-120"/>
              </a:rPr>
              <a:t>UNICORD</a:t>
            </a:r>
            <a:endParaRPr lang="en-US" sz="2000" dirty="0"/>
          </a:p>
        </p:txBody>
      </p:sp>
      <p:sp>
        <p:nvSpPr>
          <p:cNvPr id="6" name="Text 3"/>
          <p:cNvSpPr/>
          <p:nvPr/>
        </p:nvSpPr>
        <p:spPr>
          <a:xfrm>
            <a:off x="822960" y="2468880"/>
            <a:ext cx="10058400" cy="365760"/>
          </a:xfrm>
          <a:prstGeom prst="rect">
            <a:avLst/>
          </a:prstGeom>
          <a:noFill/>
          <a:ln/>
        </p:spPr>
        <p:txBody>
          <a:bodyPr wrap="square" rtlCol="0" anchor="ctr"/>
          <a:lstStyle/>
          <a:p>
            <a:pPr indent="0" marL="0">
              <a:buNone/>
            </a:pPr>
            <a:r>
              <a:rPr lang="en-US" sz="1400" b="1" spc="200" kern="0" dirty="0">
                <a:solidFill>
                  <a:srgbClr val="D97B3F"/>
                </a:solidFill>
                <a:latin typeface="Arial" pitchFamily="34" charset="0"/>
                <a:ea typeface="Arial" pitchFamily="34" charset="-122"/>
                <a:cs typeface="Arial" pitchFamily="34" charset="-120"/>
              </a:rPr>
              <a:t>SOLUTION PROPOSAL — VERSION 2</a:t>
            </a:r>
            <a:endParaRPr lang="en-US" sz="1400" dirty="0"/>
          </a:p>
        </p:txBody>
      </p:sp>
      <p:sp>
        <p:nvSpPr>
          <p:cNvPr id="7" name="Text 4"/>
          <p:cNvSpPr/>
          <p:nvPr/>
        </p:nvSpPr>
        <p:spPr>
          <a:xfrm>
            <a:off x="822960" y="2880360"/>
            <a:ext cx="10515600" cy="77724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Manpower Training &amp; Competency</a:t>
            </a:r>
            <a:endParaRPr lang="en-US" sz="4000" dirty="0"/>
          </a:p>
        </p:txBody>
      </p:sp>
      <p:sp>
        <p:nvSpPr>
          <p:cNvPr id="8" name="Text 5"/>
          <p:cNvSpPr/>
          <p:nvPr/>
        </p:nvSpPr>
        <p:spPr>
          <a:xfrm>
            <a:off x="822960" y="3566160"/>
            <a:ext cx="10515600" cy="777240"/>
          </a:xfrm>
          <a:prstGeom prst="rect">
            <a:avLst/>
          </a:prstGeom>
          <a:noFill/>
          <a:ln/>
        </p:spPr>
        <p:txBody>
          <a:bodyPr wrap="square" rtlCol="0" anchor="ctr"/>
          <a:lstStyle/>
          <a:p>
            <a:pPr indent="0" marL="0">
              <a:buNone/>
            </a:pPr>
            <a:r>
              <a:rPr lang="en-US" sz="4000" b="1" dirty="0">
                <a:solidFill>
                  <a:srgbClr val="8BE3FD"/>
                </a:solidFill>
                <a:latin typeface="Arial" pitchFamily="34" charset="0"/>
                <a:ea typeface="Arial" pitchFamily="34" charset="-122"/>
                <a:cs typeface="Arial" pitchFamily="34" charset="-120"/>
              </a:rPr>
              <a:t>Management Platform</a:t>
            </a:r>
            <a:endParaRPr lang="en-US" sz="4000" dirty="0"/>
          </a:p>
        </p:txBody>
      </p:sp>
      <p:sp>
        <p:nvSpPr>
          <p:cNvPr id="9" name="Text 6"/>
          <p:cNvSpPr/>
          <p:nvPr/>
        </p:nvSpPr>
        <p:spPr>
          <a:xfrm>
            <a:off x="822960" y="4434840"/>
            <a:ext cx="9144000" cy="411480"/>
          </a:xfrm>
          <a:prstGeom prst="rect">
            <a:avLst/>
          </a:prstGeom>
          <a:noFill/>
          <a:ln/>
        </p:spPr>
        <p:txBody>
          <a:bodyPr wrap="square" rtlCol="0" anchor="ctr"/>
          <a:lstStyle/>
          <a:p>
            <a:pPr indent="0" marL="0">
              <a:buNone/>
            </a:pPr>
            <a:r>
              <a:rPr lang="en-US" sz="1500" i="1" dirty="0">
                <a:solidFill>
                  <a:srgbClr val="B7CBCF"/>
                </a:solidFill>
                <a:latin typeface="Arial" pitchFamily="34" charset="0"/>
                <a:ea typeface="Arial" pitchFamily="34" charset="-122"/>
                <a:cs typeface="Arial" pitchFamily="34" charset="-120"/>
              </a:rPr>
              <a:t>A discovery discussion document, prepared for our detailed working meeting.</a:t>
            </a:r>
            <a:endParaRPr lang="en-US" sz="1500" dirty="0"/>
          </a:p>
        </p:txBody>
      </p:sp>
      <p:sp>
        <p:nvSpPr>
          <p:cNvPr id="10" name="Shape 7"/>
          <p:cNvSpPr/>
          <p:nvPr/>
        </p:nvSpPr>
        <p:spPr>
          <a:xfrm>
            <a:off x="822960" y="5074920"/>
            <a:ext cx="2103120" cy="0"/>
          </a:xfrm>
          <a:prstGeom prst="line">
            <a:avLst/>
          </a:prstGeom>
          <a:noFill/>
          <a:ln w="25400">
            <a:solidFill>
              <a:srgbClr val="8BE3FD"/>
            </a:solidFill>
            <a:prstDash val="solid"/>
          </a:ln>
        </p:spPr>
      </p:sp>
      <p:sp>
        <p:nvSpPr>
          <p:cNvPr id="11" name="Text 8"/>
          <p:cNvSpPr/>
          <p:nvPr/>
        </p:nvSpPr>
        <p:spPr>
          <a:xfrm>
            <a:off x="822960" y="5257800"/>
            <a:ext cx="10515600" cy="365760"/>
          </a:xfrm>
          <a:prstGeom prst="rect">
            <a:avLst/>
          </a:prstGeom>
          <a:noFill/>
          <a:ln/>
        </p:spPr>
        <p:txBody>
          <a:bodyPr wrap="square" rtlCol="0" anchor="ctr"/>
          <a:lstStyle/>
          <a:p>
            <a:pPr indent="0" marL="0">
              <a:buNone/>
            </a:pPr>
            <a:r>
              <a:rPr lang="en-US" sz="1100" b="1" spc="100" kern="0" dirty="0">
                <a:solidFill>
                  <a:srgbClr val="8BE3FD"/>
                </a:solidFill>
                <a:latin typeface="Arial" pitchFamily="34" charset="0"/>
                <a:ea typeface="Arial" pitchFamily="34" charset="-122"/>
                <a:cs typeface="Arial" pitchFamily="34" charset="-120"/>
              </a:rPr>
              <a:t>PREPARED FOR   </a:t>
            </a:r>
            <a:pPr indent="0" marL="0">
              <a:buNone/>
            </a:pPr>
            <a:r>
              <a:rPr lang="en-US" sz="1300" b="1" dirty="0">
                <a:solidFill>
                  <a:srgbClr val="FFFFFF"/>
                </a:solidFill>
                <a:latin typeface="Arial" pitchFamily="34" charset="0"/>
                <a:ea typeface="Arial" pitchFamily="34" charset="-122"/>
                <a:cs typeface="Arial" pitchFamily="34" charset="-120"/>
              </a:rPr>
              <a:t>Nectar Enviro India Pvt. Ltd.    </a:t>
            </a:r>
            <a:pPr indent="0" marL="0">
              <a:buNone/>
            </a:pPr>
            <a:r>
              <a:rPr lang="en-US" sz="1100" b="1" spc="100" kern="0" dirty="0">
                <a:solidFill>
                  <a:srgbClr val="8BE3FD"/>
                </a:solidFill>
                <a:latin typeface="Arial" pitchFamily="34" charset="0"/>
                <a:ea typeface="Arial" pitchFamily="34" charset="-122"/>
                <a:cs typeface="Arial" pitchFamily="34" charset="-120"/>
              </a:rPr>
              <a:t>PREPARED BY   </a:t>
            </a:r>
            <a:pPr indent="0" marL="0">
              <a:buNone/>
            </a:pPr>
            <a:r>
              <a:rPr lang="en-US" sz="1300" b="1" dirty="0">
                <a:solidFill>
                  <a:srgbClr val="FFFFFF"/>
                </a:solidFill>
                <a:latin typeface="Arial" pitchFamily="34" charset="0"/>
                <a:ea typeface="Arial" pitchFamily="34" charset="-122"/>
                <a:cs typeface="Arial" pitchFamily="34" charset="-120"/>
              </a:rPr>
              <a:t>UniCord</a:t>
            </a:r>
            <a:endParaRPr lang="en-US" sz="1100" dirty="0"/>
          </a:p>
        </p:txBody>
      </p:sp>
      <p:sp>
        <p:nvSpPr>
          <p:cNvPr id="12" name="Text 9"/>
          <p:cNvSpPr/>
          <p:nvPr/>
        </p:nvSpPr>
        <p:spPr>
          <a:xfrm>
            <a:off x="822960" y="5669280"/>
            <a:ext cx="9144000" cy="365760"/>
          </a:xfrm>
          <a:prstGeom prst="rect">
            <a:avLst/>
          </a:prstGeom>
          <a:noFill/>
          <a:ln/>
        </p:spPr>
        <p:txBody>
          <a:bodyPr wrap="square" rtlCol="0" anchor="ctr"/>
          <a:lstStyle/>
          <a:p>
            <a:pPr indent="0" marL="0">
              <a:buNone/>
            </a:pPr>
            <a:r>
              <a:rPr lang="en-US" sz="1150" dirty="0">
                <a:solidFill>
                  <a:srgbClr val="8199A0"/>
                </a:solidFill>
                <a:latin typeface="Arial" pitchFamily="34" charset="0"/>
                <a:ea typeface="Arial" pitchFamily="34" charset="-122"/>
                <a:cs typeface="Arial" pitchFamily="34" charset="-120"/>
              </a:rPr>
              <a:t>September 2026  ·  Confidential — prepared exclusively for NEIPL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A0F10"/>
                </a:solidFill>
                <a:latin typeface="Arial" pitchFamily="34" charset="0"/>
                <a:ea typeface="Arial" pitchFamily="34" charset="-122"/>
                <a:cs typeface="Arial" pitchFamily="34" charset="-120"/>
              </a:rPr>
              <a:t>Table of Contents</a:t>
            </a:r>
            <a:endParaRPr lang="en-US" sz="2800" dirty="0"/>
          </a:p>
        </p:txBody>
      </p:sp>
      <p:sp>
        <p:nvSpPr>
          <p:cNvPr id="3" name="Shape 1"/>
          <p:cNvSpPr/>
          <p:nvPr/>
        </p:nvSpPr>
        <p:spPr>
          <a:xfrm>
            <a:off x="566928" y="1051560"/>
            <a:ext cx="1920240" cy="0"/>
          </a:xfrm>
          <a:prstGeom prst="line">
            <a:avLst/>
          </a:prstGeom>
          <a:noFill/>
          <a:ln w="31750">
            <a:solidFill>
              <a:srgbClr val="8BE3FD"/>
            </a:solidFill>
            <a:prstDash val="solid"/>
          </a:ln>
        </p:spPr>
      </p:sp>
      <p:sp>
        <p:nvSpPr>
          <p:cNvPr id="4" name="Text 2"/>
          <p:cNvSpPr/>
          <p:nvPr/>
        </p:nvSpPr>
        <p:spPr>
          <a:xfrm>
            <a:off x="548640" y="1371600"/>
            <a:ext cx="5577840" cy="5029200"/>
          </a:xfrm>
          <a:prstGeom prst="rect">
            <a:avLst/>
          </a:prstGeom>
          <a:noFill/>
          <a:ln/>
        </p:spPr>
        <p:txBody>
          <a:bodyPr wrap="square" rtlCol="0" anchor="ctr"/>
          <a:lstStyle/>
          <a:p>
            <a:pPr indent="0" marL="0">
              <a:spcAft>
                <a:spcPts val="1400"/>
              </a:spcAft>
              <a:buNone/>
            </a:pPr>
            <a:r>
              <a:rPr lang="en-US" sz="1450" dirty="0">
                <a:solidFill>
                  <a:srgbClr val="17262A"/>
                </a:solidFill>
                <a:latin typeface="Arial" pitchFamily="34" charset="0"/>
                <a:ea typeface="Arial" pitchFamily="34" charset="-122"/>
                <a:cs typeface="Arial" pitchFamily="34" charset="-120"/>
              </a:rPr>
              <a:t>1.  Executive Overview</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2.  Understanding NEIPL's Current Process</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3.  Current Challenges</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4.  Proposed Solution</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5.  Employee &amp; Workforce Management</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6.  Job Category &amp; Competency Framework</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7.  Assessment Management</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8.  Automated Scoring &amp; Competency Evaluation</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9.  AI-Powered Gap Analysis</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10.  Personalized Training Recommendations &amp; Predictive Insights</a:t>
            </a:r>
            <a:endParaRPr lang="en-US" sz="1450" dirty="0"/>
          </a:p>
        </p:txBody>
      </p:sp>
      <p:sp>
        <p:nvSpPr>
          <p:cNvPr id="5" name="Text 3"/>
          <p:cNvSpPr/>
          <p:nvPr/>
        </p:nvSpPr>
        <p:spPr>
          <a:xfrm>
            <a:off x="6309360" y="1371600"/>
            <a:ext cx="5577840" cy="5029200"/>
          </a:xfrm>
          <a:prstGeom prst="rect">
            <a:avLst/>
          </a:prstGeom>
          <a:noFill/>
          <a:ln/>
        </p:spPr>
        <p:txBody>
          <a:bodyPr wrap="square" rtlCol="0" anchor="ctr"/>
          <a:lstStyle/>
          <a:p>
            <a:pPr indent="0" marL="0">
              <a:spcAft>
                <a:spcPts val="1400"/>
              </a:spcAft>
              <a:buNone/>
            </a:pPr>
            <a:r>
              <a:rPr lang="en-US" sz="1450" dirty="0">
                <a:solidFill>
                  <a:srgbClr val="17262A"/>
                </a:solidFill>
                <a:latin typeface="Arial" pitchFamily="34" charset="0"/>
                <a:ea typeface="Arial" pitchFamily="34" charset="-122"/>
                <a:cs typeface="Arial" pitchFamily="34" charset="-120"/>
              </a:rPr>
              <a:t>11.  Training Management</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12.  Video Meeting &amp; Online Training</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13.  Reassessment &amp; Certification</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14.  Management Dashboard &amp; MIS</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15.  Roles, Permissions &amp; Audit Trail</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16.  Multi-Site Management &amp; Data Migration</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17.  Implementation Approach</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18.  Items to Finalize During Discovery</a:t>
            </a:r>
            <a:endParaRPr lang="en-US" sz="1450" dirty="0"/>
          </a:p>
          <a:p>
            <a:pPr indent="0" marL="0">
              <a:spcAft>
                <a:spcPts val="1400"/>
              </a:spcAft>
              <a:buNone/>
            </a:pPr>
            <a:r>
              <a:rPr lang="en-US" sz="1450" dirty="0">
                <a:solidFill>
                  <a:srgbClr val="17262A"/>
                </a:solidFill>
                <a:latin typeface="Arial" pitchFamily="34" charset="0"/>
                <a:ea typeface="Arial" pitchFamily="34" charset="-122"/>
                <a:cs typeface="Arial" pitchFamily="34" charset="-120"/>
              </a:rPr>
              <a:t>19.  Next Steps / Discussion</a:t>
            </a:r>
            <a:endParaRPr lang="en-US" sz="1450" dirty="0"/>
          </a:p>
        </p:txBody>
      </p:sp>
      <p:sp>
        <p:nvSpPr>
          <p:cNvPr id="6" name="Text 4"/>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Executive Overview</a:t>
            </a:r>
            <a:endParaRPr lang="en-US" sz="2700" dirty="0"/>
          </a:p>
        </p:txBody>
      </p:sp>
      <p:sp>
        <p:nvSpPr>
          <p:cNvPr id="4" name="Text 2"/>
          <p:cNvSpPr/>
          <p:nvPr/>
        </p:nvSpPr>
        <p:spPr>
          <a:xfrm>
            <a:off x="548640" y="1417320"/>
            <a:ext cx="11064240" cy="822960"/>
          </a:xfrm>
          <a:prstGeom prst="rect">
            <a:avLst/>
          </a:prstGeom>
          <a:noFill/>
          <a:ln/>
        </p:spPr>
        <p:txBody>
          <a:bodyPr wrap="square" rtlCol="0" anchor="ctr"/>
          <a:lstStyle/>
          <a:p>
            <a:pPr indent="0" marL="0">
              <a:lnSpc>
                <a:spcPts val="2100"/>
              </a:lnSpc>
              <a:buNone/>
            </a:pPr>
            <a:r>
              <a:rPr lang="en-US" sz="1500" dirty="0">
                <a:solidFill>
                  <a:srgbClr val="17262A"/>
                </a:solidFill>
                <a:latin typeface="Arial" pitchFamily="34" charset="0"/>
                <a:ea typeface="Arial" pitchFamily="34" charset="-122"/>
                <a:cs typeface="Arial" pitchFamily="34" charset="-120"/>
              </a:rPr>
              <a:t>This document presents UniCord's understanding of NEIPL's current manpower competency evaluation process, and our proposed approach for a centralized Manpower Training &amp; Competency Management Platform — prepared as a discussion document for our first detailed working meeting.</a:t>
            </a:r>
            <a:endParaRPr lang="en-US" sz="1500" dirty="0"/>
          </a:p>
        </p:txBody>
      </p:sp>
      <p:sp>
        <p:nvSpPr>
          <p:cNvPr id="5" name="Shape 3"/>
          <p:cNvSpPr/>
          <p:nvPr/>
        </p:nvSpPr>
        <p:spPr>
          <a:xfrm>
            <a:off x="548640" y="2514600"/>
            <a:ext cx="3520440" cy="3108960"/>
          </a:xfrm>
          <a:prstGeom prst="roundRect">
            <a:avLst>
              <a:gd name="adj" fmla="val 2353"/>
            </a:avLst>
          </a:prstGeom>
          <a:solidFill>
            <a:srgbClr val="EAFBFF"/>
          </a:solidFill>
          <a:ln/>
        </p:spPr>
      </p:sp>
      <p:sp>
        <p:nvSpPr>
          <p:cNvPr id="6" name="Shape 4"/>
          <p:cNvSpPr/>
          <p:nvPr/>
        </p:nvSpPr>
        <p:spPr>
          <a:xfrm>
            <a:off x="822960" y="2788920"/>
            <a:ext cx="502920" cy="502920"/>
          </a:xfrm>
          <a:prstGeom prst="roundRect">
            <a:avLst>
              <a:gd name="adj" fmla="val 50909"/>
            </a:avLst>
          </a:prstGeom>
          <a:solidFill>
            <a:srgbClr val="0E7490"/>
          </a:solidFill>
          <a:ln/>
        </p:spPr>
      </p:sp>
      <p:sp>
        <p:nvSpPr>
          <p:cNvPr id="7" name="Text 5"/>
          <p:cNvSpPr/>
          <p:nvPr/>
        </p:nvSpPr>
        <p:spPr>
          <a:xfrm>
            <a:off x="822960" y="278892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822960" y="3429000"/>
            <a:ext cx="297180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What This Is</a:t>
            </a:r>
            <a:endParaRPr lang="en-US" sz="1500" dirty="0"/>
          </a:p>
        </p:txBody>
      </p:sp>
      <p:sp>
        <p:nvSpPr>
          <p:cNvPr id="9" name="Text 7"/>
          <p:cNvSpPr/>
          <p:nvPr/>
        </p:nvSpPr>
        <p:spPr>
          <a:xfrm>
            <a:off x="822960" y="3794760"/>
            <a:ext cx="2971800" cy="1645920"/>
          </a:xfrm>
          <a:prstGeom prst="rect">
            <a:avLst/>
          </a:prstGeom>
          <a:noFill/>
          <a:ln/>
        </p:spPr>
        <p:txBody>
          <a:bodyPr wrap="square" rtlCol="0" anchor="ctr"/>
          <a:lstStyle/>
          <a:p>
            <a:pPr indent="0" marL="0">
              <a:lnSpc>
                <a:spcPts val="1600"/>
              </a:lnSpc>
              <a:buNone/>
            </a:pPr>
            <a:r>
              <a:rPr lang="en-US" sz="1200" dirty="0">
                <a:solidFill>
                  <a:srgbClr val="17262A"/>
                </a:solidFill>
                <a:latin typeface="Arial" pitchFamily="34" charset="0"/>
                <a:ea typeface="Arial" pitchFamily="34" charset="-122"/>
                <a:cs typeface="Arial" pitchFamily="34" charset="-120"/>
              </a:rPr>
              <a:t>A discussion document bringing together what we've learned so far, and the solution direction we recommend.</a:t>
            </a:r>
            <a:endParaRPr lang="en-US" sz="1200" dirty="0"/>
          </a:p>
        </p:txBody>
      </p:sp>
      <p:sp>
        <p:nvSpPr>
          <p:cNvPr id="10" name="Shape 8"/>
          <p:cNvSpPr/>
          <p:nvPr/>
        </p:nvSpPr>
        <p:spPr>
          <a:xfrm>
            <a:off x="4343400" y="2514600"/>
            <a:ext cx="3520440" cy="3108960"/>
          </a:xfrm>
          <a:prstGeom prst="roundRect">
            <a:avLst>
              <a:gd name="adj" fmla="val 2353"/>
            </a:avLst>
          </a:prstGeom>
          <a:solidFill>
            <a:srgbClr val="EAFBFF"/>
          </a:solidFill>
          <a:ln/>
        </p:spPr>
      </p:sp>
      <p:sp>
        <p:nvSpPr>
          <p:cNvPr id="11" name="Shape 9"/>
          <p:cNvSpPr/>
          <p:nvPr/>
        </p:nvSpPr>
        <p:spPr>
          <a:xfrm>
            <a:off x="4617720" y="2788920"/>
            <a:ext cx="502920" cy="502920"/>
          </a:xfrm>
          <a:prstGeom prst="roundRect">
            <a:avLst>
              <a:gd name="adj" fmla="val 50909"/>
            </a:avLst>
          </a:prstGeom>
          <a:solidFill>
            <a:srgbClr val="0E7490"/>
          </a:solidFill>
          <a:ln/>
        </p:spPr>
      </p:sp>
      <p:sp>
        <p:nvSpPr>
          <p:cNvPr id="12" name="Text 10"/>
          <p:cNvSpPr/>
          <p:nvPr/>
        </p:nvSpPr>
        <p:spPr>
          <a:xfrm>
            <a:off x="4617720" y="278892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4617720" y="3429000"/>
            <a:ext cx="297180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What's Confirmed</a:t>
            </a:r>
            <a:endParaRPr lang="en-US" sz="1500" dirty="0"/>
          </a:p>
        </p:txBody>
      </p:sp>
      <p:sp>
        <p:nvSpPr>
          <p:cNvPr id="14" name="Text 12"/>
          <p:cNvSpPr/>
          <p:nvPr/>
        </p:nvSpPr>
        <p:spPr>
          <a:xfrm>
            <a:off x="4617720" y="3794760"/>
            <a:ext cx="2971800" cy="1645920"/>
          </a:xfrm>
          <a:prstGeom prst="rect">
            <a:avLst/>
          </a:prstGeom>
          <a:noFill/>
          <a:ln/>
        </p:spPr>
        <p:txBody>
          <a:bodyPr wrap="square" rtlCol="0" anchor="ctr"/>
          <a:lstStyle/>
          <a:p>
            <a:pPr indent="0" marL="0">
              <a:lnSpc>
                <a:spcPts val="1600"/>
              </a:lnSpc>
              <a:buNone/>
            </a:pPr>
            <a:r>
              <a:rPr lang="en-US" sz="1200" dirty="0">
                <a:solidFill>
                  <a:srgbClr val="17262A"/>
                </a:solidFill>
                <a:latin typeface="Arial" pitchFamily="34" charset="0"/>
                <a:ea typeface="Arial" pitchFamily="34" charset="-122"/>
                <a:cs typeface="Arial" pitchFamily="34" charset="-120"/>
              </a:rPr>
              <a:t>Sections through this deck are marked where a direction is confirmed vs. still to be validated with NEIPL.</a:t>
            </a:r>
            <a:endParaRPr lang="en-US" sz="1200" dirty="0"/>
          </a:p>
        </p:txBody>
      </p:sp>
      <p:sp>
        <p:nvSpPr>
          <p:cNvPr id="15" name="Shape 13"/>
          <p:cNvSpPr/>
          <p:nvPr/>
        </p:nvSpPr>
        <p:spPr>
          <a:xfrm>
            <a:off x="8138160" y="2514600"/>
            <a:ext cx="3520440" cy="3108960"/>
          </a:xfrm>
          <a:prstGeom prst="roundRect">
            <a:avLst>
              <a:gd name="adj" fmla="val 2353"/>
            </a:avLst>
          </a:prstGeom>
          <a:solidFill>
            <a:srgbClr val="EAFBFF"/>
          </a:solidFill>
          <a:ln/>
        </p:spPr>
      </p:sp>
      <p:sp>
        <p:nvSpPr>
          <p:cNvPr id="16" name="Shape 14"/>
          <p:cNvSpPr/>
          <p:nvPr/>
        </p:nvSpPr>
        <p:spPr>
          <a:xfrm>
            <a:off x="8412480" y="2788920"/>
            <a:ext cx="502920" cy="502920"/>
          </a:xfrm>
          <a:prstGeom prst="roundRect">
            <a:avLst>
              <a:gd name="adj" fmla="val 50909"/>
            </a:avLst>
          </a:prstGeom>
          <a:solidFill>
            <a:srgbClr val="0E7490"/>
          </a:solidFill>
          <a:ln/>
        </p:spPr>
      </p:sp>
      <p:sp>
        <p:nvSpPr>
          <p:cNvPr id="17" name="Text 15"/>
          <p:cNvSpPr/>
          <p:nvPr/>
        </p:nvSpPr>
        <p:spPr>
          <a:xfrm>
            <a:off x="8412480" y="278892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8412480" y="3429000"/>
            <a:ext cx="297180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What's Next</a:t>
            </a:r>
            <a:endParaRPr lang="en-US" sz="1500" dirty="0"/>
          </a:p>
        </p:txBody>
      </p:sp>
      <p:sp>
        <p:nvSpPr>
          <p:cNvPr id="19" name="Text 17"/>
          <p:cNvSpPr/>
          <p:nvPr/>
        </p:nvSpPr>
        <p:spPr>
          <a:xfrm>
            <a:off x="8412480" y="3794760"/>
            <a:ext cx="2971800" cy="1645920"/>
          </a:xfrm>
          <a:prstGeom prst="rect">
            <a:avLst/>
          </a:prstGeom>
          <a:noFill/>
          <a:ln/>
        </p:spPr>
        <p:txBody>
          <a:bodyPr wrap="square" rtlCol="0" anchor="ctr"/>
          <a:lstStyle/>
          <a:p>
            <a:pPr indent="0" marL="0">
              <a:lnSpc>
                <a:spcPts val="1600"/>
              </a:lnSpc>
              <a:buNone/>
            </a:pPr>
            <a:r>
              <a:rPr lang="en-US" sz="1200" dirty="0">
                <a:solidFill>
                  <a:srgbClr val="17262A"/>
                </a:solidFill>
                <a:latin typeface="Arial" pitchFamily="34" charset="0"/>
                <a:ea typeface="Arial" pitchFamily="34" charset="-122"/>
                <a:cs typeface="Arial" pitchFamily="34" charset="-120"/>
              </a:rPr>
              <a:t>Section 18 consolidates every open item — our meeting will work through these together.</a:t>
            </a:r>
            <a:endParaRPr lang="en-US" sz="1200" dirty="0"/>
          </a:p>
        </p:txBody>
      </p:sp>
      <p:sp>
        <p:nvSpPr>
          <p:cNvPr id="20" name="Text 18"/>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1" name="Text 1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2</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Understanding NEIPL's Current Process</a:t>
            </a:r>
            <a:endParaRPr lang="en-US" sz="2700" dirty="0"/>
          </a:p>
        </p:txBody>
      </p:sp>
      <p:sp>
        <p:nvSpPr>
          <p:cNvPr id="4" name="Text 2"/>
          <p:cNvSpPr/>
          <p:nvPr/>
        </p:nvSpPr>
        <p:spPr>
          <a:xfrm>
            <a:off x="548640" y="1417320"/>
            <a:ext cx="11064240" cy="960120"/>
          </a:xfrm>
          <a:prstGeom prst="rect">
            <a:avLst/>
          </a:prstGeom>
          <a:noFill/>
          <a:ln/>
        </p:spPr>
        <p:txBody>
          <a:bodyPr wrap="square" rtlCol="0" anchor="ctr"/>
          <a:lstStyle/>
          <a:p>
            <a:pPr indent="0" marL="0">
              <a:lnSpc>
                <a:spcPts val="2000"/>
              </a:lnSpc>
              <a:buNone/>
            </a:pPr>
            <a:r>
              <a:rPr lang="en-US" sz="1450" dirty="0">
                <a:solidFill>
                  <a:srgbClr val="17262A"/>
                </a:solidFill>
                <a:latin typeface="Arial" pitchFamily="34" charset="0"/>
                <a:ea typeface="Arial" pitchFamily="34" charset="-122"/>
                <a:cs typeface="Arial" pitchFamily="34" charset="-120"/>
              </a:rPr>
              <a:t>NEIPL evaluates manpower competency using a structured, Excel-based format — four components rolled into an overall competency score, followed by Learning Need Identification. Applied across categories including Shift Incharge, Filter Operator, R.P. category, Helper / RTPI, and Plant Operator.</a:t>
            </a:r>
            <a:endParaRPr lang="en-US" sz="1450" dirty="0"/>
          </a:p>
        </p:txBody>
      </p:sp>
      <p:sp>
        <p:nvSpPr>
          <p:cNvPr id="5" name="Shape 3"/>
          <p:cNvSpPr/>
          <p:nvPr/>
        </p:nvSpPr>
        <p:spPr>
          <a:xfrm>
            <a:off x="548640" y="2743200"/>
            <a:ext cx="1711452" cy="1051560"/>
          </a:xfrm>
          <a:prstGeom prst="roundRect">
            <a:avLst>
              <a:gd name="adj" fmla="val 5217"/>
            </a:avLst>
          </a:prstGeom>
          <a:solidFill>
            <a:srgbClr val="EAFBFF"/>
          </a:solidFill>
          <a:ln w="12700">
            <a:solidFill>
              <a:srgbClr val="1596B0"/>
            </a:solidFill>
            <a:prstDash val="solid"/>
          </a:ln>
        </p:spPr>
      </p:sp>
      <p:sp>
        <p:nvSpPr>
          <p:cNvPr id="6" name="Text 4"/>
          <p:cNvSpPr/>
          <p:nvPr/>
        </p:nvSpPr>
        <p:spPr>
          <a:xfrm>
            <a:off x="621792" y="2743200"/>
            <a:ext cx="1565148" cy="105156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Skill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Mapping</a:t>
            </a:r>
            <a:endParaRPr lang="en-US" sz="1250" dirty="0"/>
          </a:p>
        </p:txBody>
      </p:sp>
      <p:sp>
        <p:nvSpPr>
          <p:cNvPr id="7" name="Text 5"/>
          <p:cNvSpPr/>
          <p:nvPr/>
        </p:nvSpPr>
        <p:spPr>
          <a:xfrm>
            <a:off x="2260092" y="2743200"/>
            <a:ext cx="164592" cy="105156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2424684" y="2743200"/>
            <a:ext cx="1711452" cy="1051560"/>
          </a:xfrm>
          <a:prstGeom prst="roundRect">
            <a:avLst>
              <a:gd name="adj" fmla="val 5217"/>
            </a:avLst>
          </a:prstGeom>
          <a:solidFill>
            <a:srgbClr val="EAFBFF"/>
          </a:solidFill>
          <a:ln w="12700">
            <a:solidFill>
              <a:srgbClr val="1596B0"/>
            </a:solidFill>
            <a:prstDash val="solid"/>
          </a:ln>
        </p:spPr>
      </p:sp>
      <p:sp>
        <p:nvSpPr>
          <p:cNvPr id="9" name="Text 7"/>
          <p:cNvSpPr/>
          <p:nvPr/>
        </p:nvSpPr>
        <p:spPr>
          <a:xfrm>
            <a:off x="2497836" y="2743200"/>
            <a:ext cx="1565148" cy="105156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Practical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Test</a:t>
            </a:r>
            <a:endParaRPr lang="en-US" sz="1250" dirty="0"/>
          </a:p>
        </p:txBody>
      </p:sp>
      <p:sp>
        <p:nvSpPr>
          <p:cNvPr id="10" name="Text 8"/>
          <p:cNvSpPr/>
          <p:nvPr/>
        </p:nvSpPr>
        <p:spPr>
          <a:xfrm>
            <a:off x="4136136" y="2743200"/>
            <a:ext cx="164592" cy="105156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4300728" y="2743200"/>
            <a:ext cx="1711452" cy="1051560"/>
          </a:xfrm>
          <a:prstGeom prst="roundRect">
            <a:avLst>
              <a:gd name="adj" fmla="val 5217"/>
            </a:avLst>
          </a:prstGeom>
          <a:solidFill>
            <a:srgbClr val="EAFBFF"/>
          </a:solidFill>
          <a:ln w="12700">
            <a:solidFill>
              <a:srgbClr val="1596B0"/>
            </a:solidFill>
            <a:prstDash val="solid"/>
          </a:ln>
        </p:spPr>
      </p:sp>
      <p:sp>
        <p:nvSpPr>
          <p:cNvPr id="12" name="Text 10"/>
          <p:cNvSpPr/>
          <p:nvPr/>
        </p:nvSpPr>
        <p:spPr>
          <a:xfrm>
            <a:off x="4373880" y="2743200"/>
            <a:ext cx="1565148" cy="105156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Written</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Test</a:t>
            </a:r>
            <a:endParaRPr lang="en-US" sz="1250" dirty="0"/>
          </a:p>
        </p:txBody>
      </p:sp>
      <p:sp>
        <p:nvSpPr>
          <p:cNvPr id="13" name="Text 11"/>
          <p:cNvSpPr/>
          <p:nvPr/>
        </p:nvSpPr>
        <p:spPr>
          <a:xfrm>
            <a:off x="6012180" y="2743200"/>
            <a:ext cx="164592" cy="105156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6176772" y="2743200"/>
            <a:ext cx="1711452" cy="1051560"/>
          </a:xfrm>
          <a:prstGeom prst="roundRect">
            <a:avLst>
              <a:gd name="adj" fmla="val 5217"/>
            </a:avLst>
          </a:prstGeom>
          <a:solidFill>
            <a:srgbClr val="EAFBFF"/>
          </a:solidFill>
          <a:ln w="12700">
            <a:solidFill>
              <a:srgbClr val="1596B0"/>
            </a:solidFill>
            <a:prstDash val="solid"/>
          </a:ln>
        </p:spPr>
      </p:sp>
      <p:sp>
        <p:nvSpPr>
          <p:cNvPr id="15" name="Text 13"/>
          <p:cNvSpPr/>
          <p:nvPr/>
        </p:nvSpPr>
        <p:spPr>
          <a:xfrm>
            <a:off x="6249924" y="2743200"/>
            <a:ext cx="1565148" cy="105156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Oral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Test</a:t>
            </a:r>
            <a:endParaRPr lang="en-US" sz="1250" dirty="0"/>
          </a:p>
        </p:txBody>
      </p:sp>
      <p:sp>
        <p:nvSpPr>
          <p:cNvPr id="16" name="Text 14"/>
          <p:cNvSpPr/>
          <p:nvPr/>
        </p:nvSpPr>
        <p:spPr>
          <a:xfrm>
            <a:off x="7888224" y="2743200"/>
            <a:ext cx="164592" cy="105156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7" name="Shape 15"/>
          <p:cNvSpPr/>
          <p:nvPr/>
        </p:nvSpPr>
        <p:spPr>
          <a:xfrm>
            <a:off x="8052816" y="2743200"/>
            <a:ext cx="1711452" cy="1051560"/>
          </a:xfrm>
          <a:prstGeom prst="roundRect">
            <a:avLst>
              <a:gd name="adj" fmla="val 5217"/>
            </a:avLst>
          </a:prstGeom>
          <a:solidFill>
            <a:srgbClr val="EAFBFF"/>
          </a:solidFill>
          <a:ln w="12700">
            <a:solidFill>
              <a:srgbClr val="1596B0"/>
            </a:solidFill>
            <a:prstDash val="solid"/>
          </a:ln>
        </p:spPr>
      </p:sp>
      <p:sp>
        <p:nvSpPr>
          <p:cNvPr id="18" name="Text 16"/>
          <p:cNvSpPr/>
          <p:nvPr/>
        </p:nvSpPr>
        <p:spPr>
          <a:xfrm>
            <a:off x="8125968" y="2743200"/>
            <a:ext cx="1565148" cy="105156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Manual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Roll-up %</a:t>
            </a:r>
            <a:endParaRPr lang="en-US" sz="1250" dirty="0"/>
          </a:p>
        </p:txBody>
      </p:sp>
      <p:sp>
        <p:nvSpPr>
          <p:cNvPr id="19" name="Text 17"/>
          <p:cNvSpPr/>
          <p:nvPr/>
        </p:nvSpPr>
        <p:spPr>
          <a:xfrm>
            <a:off x="9764268" y="2743200"/>
            <a:ext cx="164592" cy="105156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20" name="Shape 18"/>
          <p:cNvSpPr/>
          <p:nvPr/>
        </p:nvSpPr>
        <p:spPr>
          <a:xfrm>
            <a:off x="9928860" y="2743200"/>
            <a:ext cx="1711452" cy="1051560"/>
          </a:xfrm>
          <a:prstGeom prst="roundRect">
            <a:avLst>
              <a:gd name="adj" fmla="val 5217"/>
            </a:avLst>
          </a:prstGeom>
          <a:solidFill>
            <a:srgbClr val="FBE9DC"/>
          </a:solidFill>
          <a:ln w="12700">
            <a:solidFill>
              <a:srgbClr val="D97B3F"/>
            </a:solidFill>
            <a:prstDash val="solid"/>
          </a:ln>
        </p:spPr>
      </p:sp>
      <p:sp>
        <p:nvSpPr>
          <p:cNvPr id="21" name="Text 19"/>
          <p:cNvSpPr/>
          <p:nvPr/>
        </p:nvSpPr>
        <p:spPr>
          <a:xfrm>
            <a:off x="10002012" y="2743200"/>
            <a:ext cx="1565148" cy="105156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Gap Sheet</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(by hand)</a:t>
            </a:r>
            <a:endParaRPr lang="en-US" sz="1250" dirty="0"/>
          </a:p>
        </p:txBody>
      </p:sp>
      <p:sp>
        <p:nvSpPr>
          <p:cNvPr id="22" name="Shape 20"/>
          <p:cNvSpPr/>
          <p:nvPr/>
        </p:nvSpPr>
        <p:spPr>
          <a:xfrm>
            <a:off x="548640" y="4206240"/>
            <a:ext cx="45720" cy="548640"/>
          </a:xfrm>
          <a:prstGeom prst="rect">
            <a:avLst/>
          </a:prstGeom>
          <a:solidFill>
            <a:srgbClr val="D97B3F"/>
          </a:solidFill>
          <a:ln/>
        </p:spPr>
      </p:sp>
      <p:sp>
        <p:nvSpPr>
          <p:cNvPr id="23" name="Text 21"/>
          <p:cNvSpPr/>
          <p:nvPr/>
        </p:nvSpPr>
        <p:spPr>
          <a:xfrm>
            <a:off x="749808" y="4206240"/>
            <a:ext cx="10863072" cy="548640"/>
          </a:xfrm>
          <a:prstGeom prst="rect">
            <a:avLst/>
          </a:prstGeom>
          <a:noFill/>
          <a:ln/>
        </p:spPr>
        <p:txBody>
          <a:bodyPr wrap="square" rtlCol="0" anchor="t"/>
          <a:lstStyle/>
          <a:p>
            <a:pPr indent="0" marL="0">
              <a:lnSpc>
                <a:spcPts val="1500"/>
              </a:lnSpc>
              <a:buNone/>
            </a:pPr>
            <a:r>
              <a:rPr lang="en-US" sz="1200" i="1" dirty="0">
                <a:solidFill>
                  <a:srgbClr val="5B6B72"/>
                </a:solidFill>
                <a:latin typeface="Arial" pitchFamily="34" charset="0"/>
                <a:ea typeface="Arial" pitchFamily="34" charset="-122"/>
                <a:cs typeface="Arial" pitchFamily="34" charset="-120"/>
              </a:rPr>
              <a:t>The complete list of job categories, and the exact evaluation content for each, is still to be confirmed with NEIPL.</a:t>
            </a:r>
            <a:endParaRPr lang="en-US" sz="1200" dirty="0"/>
          </a:p>
        </p:txBody>
      </p:sp>
      <p:sp>
        <p:nvSpPr>
          <p:cNvPr id="24" name="Text 22"/>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5" name="Text 2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3</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Current Challenges</a:t>
            </a:r>
            <a:endParaRPr lang="en-US" sz="2700" dirty="0"/>
          </a:p>
        </p:txBody>
      </p:sp>
      <p:sp>
        <p:nvSpPr>
          <p:cNvPr id="4" name="Text 2"/>
          <p:cNvSpPr/>
          <p:nvPr/>
        </p:nvSpPr>
        <p:spPr>
          <a:xfrm>
            <a:off x="548640" y="1417320"/>
            <a:ext cx="11064240" cy="548640"/>
          </a:xfrm>
          <a:prstGeom prst="rect">
            <a:avLst/>
          </a:prstGeom>
          <a:noFill/>
          <a:ln/>
        </p:spPr>
        <p:txBody>
          <a:bodyPr wrap="square" rtlCol="0" anchor="ctr"/>
          <a:lstStyle/>
          <a:p>
            <a:pPr indent="0" marL="0">
              <a:buNone/>
            </a:pPr>
            <a:r>
              <a:rPr lang="en-US" sz="1450" dirty="0">
                <a:solidFill>
                  <a:srgbClr val="17262A"/>
                </a:solidFill>
                <a:latin typeface="Arial" pitchFamily="34" charset="0"/>
                <a:ea typeface="Arial" pitchFamily="34" charset="-122"/>
                <a:cs typeface="Arial" pitchFamily="34" charset="-120"/>
              </a:rPr>
              <a:t>The current process works, but its Excel-based nature creates natural limits as it scales across employees and sites:</a:t>
            </a:r>
            <a:endParaRPr lang="en-US" sz="1450" dirty="0"/>
          </a:p>
        </p:txBody>
      </p:sp>
      <p:sp>
        <p:nvSpPr>
          <p:cNvPr id="5" name="Text 3"/>
          <p:cNvSpPr/>
          <p:nvPr/>
        </p:nvSpPr>
        <p:spPr>
          <a:xfrm>
            <a:off x="548640" y="2148840"/>
            <a:ext cx="10789920" cy="4114800"/>
          </a:xfrm>
          <a:prstGeom prst="rect">
            <a:avLst/>
          </a:prstGeom>
          <a:noFill/>
          <a:ln/>
        </p:spPr>
        <p:txBody>
          <a:bodyPr wrap="square" rtlCol="0" anchor="t"/>
          <a:lstStyle/>
          <a:p>
            <a:pPr marL="228600" indent="-228600">
              <a:lnSpc>
                <a:spcPts val="1800"/>
              </a:lnSpc>
              <a:spcAft>
                <a:spcPts val="1800"/>
              </a:spcAft>
              <a:buSzPct val="100000"/>
              <a:buChar char="•"/>
            </a:pPr>
            <a:r>
              <a:rPr lang="en-US" sz="1550" dirty="0">
                <a:solidFill>
                  <a:srgbClr val="17262A"/>
                </a:solidFill>
                <a:latin typeface="Arial" pitchFamily="34" charset="0"/>
                <a:ea typeface="Arial" pitchFamily="34" charset="-122"/>
                <a:cs typeface="Arial" pitchFamily="34" charset="-120"/>
              </a:rPr>
              <a:t>Each employee's assessment lives in a separate spreadsheet — no central, searchable database</a:t>
            </a:r>
            <a:endParaRPr lang="en-US" sz="1550" dirty="0"/>
          </a:p>
          <a:p>
            <a:pPr marL="228600" indent="-228600">
              <a:lnSpc>
                <a:spcPts val="1800"/>
              </a:lnSpc>
              <a:spcAft>
                <a:spcPts val="1800"/>
              </a:spcAft>
              <a:buSzPct val="100000"/>
              <a:buChar char="•"/>
            </a:pPr>
            <a:r>
              <a:rPr lang="en-US" sz="1550" dirty="0">
                <a:solidFill>
                  <a:srgbClr val="17262A"/>
                </a:solidFill>
                <a:latin typeface="Arial" pitchFamily="34" charset="0"/>
                <a:ea typeface="Arial" pitchFamily="34" charset="-122"/>
                <a:cs typeface="Arial" pitchFamily="34" charset="-120"/>
              </a:rPr>
              <a:t>Scoring and roll-up are manual, which takes time and leaves room for error</a:t>
            </a:r>
            <a:endParaRPr lang="en-US" sz="1550" dirty="0"/>
          </a:p>
          <a:p>
            <a:pPr marL="228600" indent="-228600">
              <a:lnSpc>
                <a:spcPts val="1800"/>
              </a:lnSpc>
              <a:spcAft>
                <a:spcPts val="1800"/>
              </a:spcAft>
              <a:buSzPct val="100000"/>
              <a:buChar char="•"/>
            </a:pPr>
            <a:r>
              <a:rPr lang="en-US" sz="1550" dirty="0">
                <a:solidFill>
                  <a:srgbClr val="17262A"/>
                </a:solidFill>
                <a:latin typeface="Arial" pitchFamily="34" charset="0"/>
                <a:ea typeface="Arial" pitchFamily="34" charset="-122"/>
                <a:cs typeface="Arial" pitchFamily="34" charset="-120"/>
              </a:rPr>
              <a:t>No automatic link between an assessment outcome and the training that should follow it</a:t>
            </a:r>
            <a:endParaRPr lang="en-US" sz="1550" dirty="0"/>
          </a:p>
          <a:p>
            <a:pPr marL="228600" indent="-228600">
              <a:lnSpc>
                <a:spcPts val="1800"/>
              </a:lnSpc>
              <a:spcAft>
                <a:spcPts val="1800"/>
              </a:spcAft>
              <a:buSzPct val="100000"/>
              <a:buChar char="•"/>
            </a:pPr>
            <a:r>
              <a:rPr lang="en-US" sz="1550" dirty="0">
                <a:solidFill>
                  <a:srgbClr val="17262A"/>
                </a:solidFill>
                <a:latin typeface="Arial" pitchFamily="34" charset="0"/>
                <a:ea typeface="Arial" pitchFamily="34" charset="-122"/>
                <a:cs typeface="Arial" pitchFamily="34" charset="-120"/>
              </a:rPr>
              <a:t>No centralized visibility for management across sites without manually collecting files</a:t>
            </a:r>
            <a:endParaRPr lang="en-US" sz="1550" dirty="0"/>
          </a:p>
          <a:p>
            <a:pPr marL="228600" indent="-228600">
              <a:lnSpc>
                <a:spcPts val="1800"/>
              </a:lnSpc>
              <a:spcAft>
                <a:spcPts val="1800"/>
              </a:spcAft>
              <a:buSzPct val="100000"/>
              <a:buChar char="•"/>
            </a:pPr>
            <a:r>
              <a:rPr lang="en-US" sz="1550" dirty="0">
                <a:solidFill>
                  <a:srgbClr val="17262A"/>
                </a:solidFill>
                <a:latin typeface="Arial" pitchFamily="34" charset="0"/>
                <a:ea typeface="Arial" pitchFamily="34" charset="-122"/>
                <a:cs typeface="Arial" pitchFamily="34" charset="-120"/>
              </a:rPr>
              <a:t>Training history and competency trends over time are difficult to track and analyze</a:t>
            </a:r>
            <a:endParaRPr lang="en-US" sz="1550" dirty="0"/>
          </a:p>
        </p:txBody>
      </p:sp>
      <p:sp>
        <p:nvSpPr>
          <p:cNvPr id="6" name="Text 4"/>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0"/>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8BE3FD"/>
                </a:solidFill>
                <a:latin typeface="Arial" pitchFamily="34" charset="0"/>
                <a:ea typeface="Arial" pitchFamily="34" charset="-122"/>
                <a:cs typeface="Arial" pitchFamily="34" charset="-120"/>
              </a:rPr>
              <a:t>SECTION 4</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Proposed Solution</a:t>
            </a:r>
            <a:endParaRPr lang="en-US" sz="2700" dirty="0"/>
          </a:p>
        </p:txBody>
      </p:sp>
      <p:sp>
        <p:nvSpPr>
          <p:cNvPr id="4" name="Text 2"/>
          <p:cNvSpPr/>
          <p:nvPr/>
        </p:nvSpPr>
        <p:spPr>
          <a:xfrm>
            <a:off x="548640" y="1371600"/>
            <a:ext cx="11064240" cy="457200"/>
          </a:xfrm>
          <a:prstGeom prst="rect">
            <a:avLst/>
          </a:prstGeom>
          <a:noFill/>
          <a:ln/>
        </p:spPr>
        <p:txBody>
          <a:bodyPr wrap="square" rtlCol="0" anchor="ctr"/>
          <a:lstStyle/>
          <a:p>
            <a:pPr indent="0" marL="0">
              <a:buNone/>
            </a:pPr>
            <a:r>
              <a:rPr lang="en-US" sz="1350" dirty="0">
                <a:solidFill>
                  <a:srgbClr val="C9DEDF"/>
                </a:solidFill>
                <a:latin typeface="Arial" pitchFamily="34" charset="0"/>
                <a:ea typeface="Arial" pitchFamily="34" charset="-122"/>
                <a:cs typeface="Arial" pitchFamily="34" charset="-120"/>
              </a:rPr>
              <a:t>One centralized platform covering NEIPL's complete competency and training lifecycle — from onboarding to certification.</a:t>
            </a:r>
            <a:endParaRPr lang="en-US" sz="1350" dirty="0"/>
          </a:p>
        </p:txBody>
      </p:sp>
      <p:sp>
        <p:nvSpPr>
          <p:cNvPr id="5" name="Text 3"/>
          <p:cNvSpPr/>
          <p:nvPr/>
        </p:nvSpPr>
        <p:spPr>
          <a:xfrm>
            <a:off x="548640" y="1965960"/>
            <a:ext cx="1417320" cy="658368"/>
          </a:xfrm>
          <a:prstGeom prst="rect">
            <a:avLst/>
          </a:prstGeom>
          <a:noFill/>
          <a:ln/>
        </p:spPr>
        <p:txBody>
          <a:bodyPr wrap="square" rtlCol="0" anchor="ctr"/>
          <a:lstStyle/>
          <a:p>
            <a:pPr indent="0" marL="0">
              <a:buNone/>
            </a:pPr>
            <a:r>
              <a:rPr lang="en-US" sz="1050" b="1" spc="100" kern="0" dirty="0">
                <a:solidFill>
                  <a:srgbClr val="8BE3FD"/>
                </a:solidFill>
                <a:latin typeface="Arial" pitchFamily="34" charset="0"/>
                <a:ea typeface="Arial" pitchFamily="34" charset="-122"/>
                <a:cs typeface="Arial" pitchFamily="34" charset="-120"/>
              </a:rPr>
              <a:t>FOUNDATION</a:t>
            </a:r>
            <a:endParaRPr lang="en-US" sz="1050" dirty="0"/>
          </a:p>
        </p:txBody>
      </p:sp>
      <p:sp>
        <p:nvSpPr>
          <p:cNvPr id="6" name="Shape 4"/>
          <p:cNvSpPr/>
          <p:nvPr/>
        </p:nvSpPr>
        <p:spPr>
          <a:xfrm>
            <a:off x="2103120" y="1965960"/>
            <a:ext cx="3096768" cy="658368"/>
          </a:xfrm>
          <a:prstGeom prst="roundRect">
            <a:avLst>
              <a:gd name="adj" fmla="val 6944"/>
            </a:avLst>
          </a:prstGeom>
          <a:solidFill>
            <a:srgbClr val="16282C"/>
          </a:solidFill>
          <a:ln w="9525">
            <a:solidFill>
              <a:srgbClr val="1596B0"/>
            </a:solidFill>
            <a:prstDash val="solid"/>
          </a:ln>
        </p:spPr>
      </p:sp>
      <p:sp>
        <p:nvSpPr>
          <p:cNvPr id="7" name="Text 5"/>
          <p:cNvSpPr/>
          <p:nvPr/>
        </p:nvSpPr>
        <p:spPr>
          <a:xfrm>
            <a:off x="2148840" y="1965960"/>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Employee</a:t>
            </a:r>
            <a:endParaRPr lang="en-US" sz="1050" dirty="0"/>
          </a:p>
        </p:txBody>
      </p:sp>
      <p:sp>
        <p:nvSpPr>
          <p:cNvPr id="8" name="Shape 6"/>
          <p:cNvSpPr/>
          <p:nvPr/>
        </p:nvSpPr>
        <p:spPr>
          <a:xfrm>
            <a:off x="5309616" y="1965960"/>
            <a:ext cx="3096768" cy="658368"/>
          </a:xfrm>
          <a:prstGeom prst="roundRect">
            <a:avLst>
              <a:gd name="adj" fmla="val 6944"/>
            </a:avLst>
          </a:prstGeom>
          <a:solidFill>
            <a:srgbClr val="16282C"/>
          </a:solidFill>
          <a:ln w="9525">
            <a:solidFill>
              <a:srgbClr val="1596B0"/>
            </a:solidFill>
            <a:prstDash val="solid"/>
          </a:ln>
        </p:spPr>
      </p:sp>
      <p:sp>
        <p:nvSpPr>
          <p:cNvPr id="9" name="Text 7"/>
          <p:cNvSpPr/>
          <p:nvPr/>
        </p:nvSpPr>
        <p:spPr>
          <a:xfrm>
            <a:off x="5355336" y="1965960"/>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Job Category &amp; Site</a:t>
            </a:r>
            <a:endParaRPr lang="en-US" sz="1050" dirty="0"/>
          </a:p>
        </p:txBody>
      </p:sp>
      <p:sp>
        <p:nvSpPr>
          <p:cNvPr id="10" name="Shape 8"/>
          <p:cNvSpPr/>
          <p:nvPr/>
        </p:nvSpPr>
        <p:spPr>
          <a:xfrm>
            <a:off x="8516112" y="1965960"/>
            <a:ext cx="3096768" cy="658368"/>
          </a:xfrm>
          <a:prstGeom prst="roundRect">
            <a:avLst>
              <a:gd name="adj" fmla="val 6944"/>
            </a:avLst>
          </a:prstGeom>
          <a:solidFill>
            <a:srgbClr val="16282C"/>
          </a:solidFill>
          <a:ln w="9525">
            <a:solidFill>
              <a:srgbClr val="1596B0"/>
            </a:solidFill>
            <a:prstDash val="solid"/>
          </a:ln>
        </p:spPr>
      </p:sp>
      <p:sp>
        <p:nvSpPr>
          <p:cNvPr id="11" name="Text 9"/>
          <p:cNvSpPr/>
          <p:nvPr/>
        </p:nvSpPr>
        <p:spPr>
          <a:xfrm>
            <a:off x="8561832" y="1965960"/>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Competency Framework</a:t>
            </a:r>
            <a:endParaRPr lang="en-US" sz="1050" dirty="0"/>
          </a:p>
        </p:txBody>
      </p:sp>
      <p:sp>
        <p:nvSpPr>
          <p:cNvPr id="12" name="Text 10"/>
          <p:cNvSpPr/>
          <p:nvPr/>
        </p:nvSpPr>
        <p:spPr>
          <a:xfrm>
            <a:off x="548640" y="2706624"/>
            <a:ext cx="1417320" cy="658368"/>
          </a:xfrm>
          <a:prstGeom prst="rect">
            <a:avLst/>
          </a:prstGeom>
          <a:noFill/>
          <a:ln/>
        </p:spPr>
        <p:txBody>
          <a:bodyPr wrap="square" rtlCol="0" anchor="ctr"/>
          <a:lstStyle/>
          <a:p>
            <a:pPr indent="0" marL="0">
              <a:buNone/>
            </a:pPr>
            <a:r>
              <a:rPr lang="en-US" sz="1050" b="1" spc="100" kern="0" dirty="0">
                <a:solidFill>
                  <a:srgbClr val="8BE3FD"/>
                </a:solidFill>
                <a:latin typeface="Arial" pitchFamily="34" charset="0"/>
                <a:ea typeface="Arial" pitchFamily="34" charset="-122"/>
                <a:cs typeface="Arial" pitchFamily="34" charset="-120"/>
              </a:rPr>
              <a:t>ASSESSMENT</a:t>
            </a:r>
            <a:endParaRPr lang="en-US" sz="1050" dirty="0"/>
          </a:p>
        </p:txBody>
      </p:sp>
      <p:sp>
        <p:nvSpPr>
          <p:cNvPr id="13" name="Shape 11"/>
          <p:cNvSpPr/>
          <p:nvPr/>
        </p:nvSpPr>
        <p:spPr>
          <a:xfrm>
            <a:off x="2103120" y="2706624"/>
            <a:ext cx="2295144" cy="658368"/>
          </a:xfrm>
          <a:prstGeom prst="roundRect">
            <a:avLst>
              <a:gd name="adj" fmla="val 6944"/>
            </a:avLst>
          </a:prstGeom>
          <a:solidFill>
            <a:srgbClr val="16282C"/>
          </a:solidFill>
          <a:ln w="9525">
            <a:solidFill>
              <a:srgbClr val="1596B0"/>
            </a:solidFill>
            <a:prstDash val="solid"/>
          </a:ln>
        </p:spPr>
      </p:sp>
      <p:sp>
        <p:nvSpPr>
          <p:cNvPr id="14" name="Text 12"/>
          <p:cNvSpPr/>
          <p:nvPr/>
        </p:nvSpPr>
        <p:spPr>
          <a:xfrm>
            <a:off x="2148840" y="2706624"/>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Skill Mapping</a:t>
            </a:r>
            <a:endParaRPr lang="en-US" sz="1050" dirty="0"/>
          </a:p>
        </p:txBody>
      </p:sp>
      <p:sp>
        <p:nvSpPr>
          <p:cNvPr id="15" name="Shape 13"/>
          <p:cNvSpPr/>
          <p:nvPr/>
        </p:nvSpPr>
        <p:spPr>
          <a:xfrm>
            <a:off x="4507992" y="2706624"/>
            <a:ext cx="2295144" cy="658368"/>
          </a:xfrm>
          <a:prstGeom prst="roundRect">
            <a:avLst>
              <a:gd name="adj" fmla="val 6944"/>
            </a:avLst>
          </a:prstGeom>
          <a:solidFill>
            <a:srgbClr val="16282C"/>
          </a:solidFill>
          <a:ln w="9525">
            <a:solidFill>
              <a:srgbClr val="1596B0"/>
            </a:solidFill>
            <a:prstDash val="solid"/>
          </a:ln>
        </p:spPr>
      </p:sp>
      <p:sp>
        <p:nvSpPr>
          <p:cNvPr id="16" name="Text 14"/>
          <p:cNvSpPr/>
          <p:nvPr/>
        </p:nvSpPr>
        <p:spPr>
          <a:xfrm>
            <a:off x="4553712" y="2706624"/>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Practical</a:t>
            </a:r>
            <a:endParaRPr lang="en-US" sz="1050" dirty="0"/>
          </a:p>
        </p:txBody>
      </p:sp>
      <p:sp>
        <p:nvSpPr>
          <p:cNvPr id="17" name="Shape 15"/>
          <p:cNvSpPr/>
          <p:nvPr/>
        </p:nvSpPr>
        <p:spPr>
          <a:xfrm>
            <a:off x="6912864" y="2706624"/>
            <a:ext cx="2295144" cy="658368"/>
          </a:xfrm>
          <a:prstGeom prst="roundRect">
            <a:avLst>
              <a:gd name="adj" fmla="val 6944"/>
            </a:avLst>
          </a:prstGeom>
          <a:solidFill>
            <a:srgbClr val="16282C"/>
          </a:solidFill>
          <a:ln w="9525">
            <a:solidFill>
              <a:srgbClr val="1596B0"/>
            </a:solidFill>
            <a:prstDash val="solid"/>
          </a:ln>
        </p:spPr>
      </p:sp>
      <p:sp>
        <p:nvSpPr>
          <p:cNvPr id="18" name="Text 16"/>
          <p:cNvSpPr/>
          <p:nvPr/>
        </p:nvSpPr>
        <p:spPr>
          <a:xfrm>
            <a:off x="6958584" y="2706624"/>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Written</a:t>
            </a:r>
            <a:endParaRPr lang="en-US" sz="1050" dirty="0"/>
          </a:p>
        </p:txBody>
      </p:sp>
      <p:sp>
        <p:nvSpPr>
          <p:cNvPr id="19" name="Shape 17"/>
          <p:cNvSpPr/>
          <p:nvPr/>
        </p:nvSpPr>
        <p:spPr>
          <a:xfrm>
            <a:off x="9317736" y="2706624"/>
            <a:ext cx="2295144" cy="658368"/>
          </a:xfrm>
          <a:prstGeom prst="roundRect">
            <a:avLst>
              <a:gd name="adj" fmla="val 6944"/>
            </a:avLst>
          </a:prstGeom>
          <a:solidFill>
            <a:srgbClr val="16282C"/>
          </a:solidFill>
          <a:ln w="9525">
            <a:solidFill>
              <a:srgbClr val="1596B0"/>
            </a:solidFill>
            <a:prstDash val="solid"/>
          </a:ln>
        </p:spPr>
      </p:sp>
      <p:sp>
        <p:nvSpPr>
          <p:cNvPr id="20" name="Text 18"/>
          <p:cNvSpPr/>
          <p:nvPr/>
        </p:nvSpPr>
        <p:spPr>
          <a:xfrm>
            <a:off x="9363456" y="2706624"/>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Oral</a:t>
            </a:r>
            <a:endParaRPr lang="en-US" sz="1050" dirty="0"/>
          </a:p>
        </p:txBody>
      </p:sp>
      <p:sp>
        <p:nvSpPr>
          <p:cNvPr id="21" name="Text 19"/>
          <p:cNvSpPr/>
          <p:nvPr/>
        </p:nvSpPr>
        <p:spPr>
          <a:xfrm>
            <a:off x="548640" y="3447288"/>
            <a:ext cx="1417320" cy="658368"/>
          </a:xfrm>
          <a:prstGeom prst="rect">
            <a:avLst/>
          </a:prstGeom>
          <a:noFill/>
          <a:ln/>
        </p:spPr>
        <p:txBody>
          <a:bodyPr wrap="square" rtlCol="0" anchor="ctr"/>
          <a:lstStyle/>
          <a:p>
            <a:pPr indent="0" marL="0">
              <a:buNone/>
            </a:pPr>
            <a:r>
              <a:rPr lang="en-US" sz="1050" b="1" spc="100" kern="0" dirty="0">
                <a:solidFill>
                  <a:srgbClr val="8BE3FD"/>
                </a:solidFill>
                <a:latin typeface="Arial" pitchFamily="34" charset="0"/>
                <a:ea typeface="Arial" pitchFamily="34" charset="-122"/>
                <a:cs typeface="Arial" pitchFamily="34" charset="-120"/>
              </a:rPr>
              <a:t>SCORING &amp; INSIGHT</a:t>
            </a:r>
            <a:endParaRPr lang="en-US" sz="1050" dirty="0"/>
          </a:p>
        </p:txBody>
      </p:sp>
      <p:sp>
        <p:nvSpPr>
          <p:cNvPr id="22" name="Shape 20"/>
          <p:cNvSpPr/>
          <p:nvPr/>
        </p:nvSpPr>
        <p:spPr>
          <a:xfrm>
            <a:off x="2103120" y="3447288"/>
            <a:ext cx="3096768" cy="658368"/>
          </a:xfrm>
          <a:prstGeom prst="roundRect">
            <a:avLst>
              <a:gd name="adj" fmla="val 6944"/>
            </a:avLst>
          </a:prstGeom>
          <a:solidFill>
            <a:srgbClr val="16282C"/>
          </a:solidFill>
          <a:ln w="9525">
            <a:solidFill>
              <a:srgbClr val="1596B0"/>
            </a:solidFill>
            <a:prstDash val="solid"/>
          </a:ln>
        </p:spPr>
      </p:sp>
      <p:sp>
        <p:nvSpPr>
          <p:cNvPr id="23" name="Text 21"/>
          <p:cNvSpPr/>
          <p:nvPr/>
        </p:nvSpPr>
        <p:spPr>
          <a:xfrm>
            <a:off x="2148840" y="3447288"/>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Automated Scoring</a:t>
            </a:r>
            <a:endParaRPr lang="en-US" sz="1050" dirty="0"/>
          </a:p>
        </p:txBody>
      </p:sp>
      <p:sp>
        <p:nvSpPr>
          <p:cNvPr id="24" name="Shape 22"/>
          <p:cNvSpPr/>
          <p:nvPr/>
        </p:nvSpPr>
        <p:spPr>
          <a:xfrm>
            <a:off x="5309616" y="3447288"/>
            <a:ext cx="3096768" cy="658368"/>
          </a:xfrm>
          <a:prstGeom prst="roundRect">
            <a:avLst>
              <a:gd name="adj" fmla="val 6944"/>
            </a:avLst>
          </a:prstGeom>
          <a:solidFill>
            <a:srgbClr val="16282C"/>
          </a:solidFill>
          <a:ln w="9525">
            <a:solidFill>
              <a:srgbClr val="1596B0"/>
            </a:solidFill>
            <a:prstDash val="solid"/>
          </a:ln>
        </p:spPr>
      </p:sp>
      <p:sp>
        <p:nvSpPr>
          <p:cNvPr id="25" name="Text 23"/>
          <p:cNvSpPr/>
          <p:nvPr/>
        </p:nvSpPr>
        <p:spPr>
          <a:xfrm>
            <a:off x="5355336" y="3447288"/>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Competency Level</a:t>
            </a:r>
            <a:endParaRPr lang="en-US" sz="1050" dirty="0"/>
          </a:p>
        </p:txBody>
      </p:sp>
      <p:sp>
        <p:nvSpPr>
          <p:cNvPr id="26" name="Shape 24"/>
          <p:cNvSpPr/>
          <p:nvPr/>
        </p:nvSpPr>
        <p:spPr>
          <a:xfrm>
            <a:off x="8516112" y="3447288"/>
            <a:ext cx="3096768" cy="658368"/>
          </a:xfrm>
          <a:prstGeom prst="roundRect">
            <a:avLst>
              <a:gd name="adj" fmla="val 6944"/>
            </a:avLst>
          </a:prstGeom>
          <a:solidFill>
            <a:srgbClr val="16282C"/>
          </a:solidFill>
          <a:ln w="9525">
            <a:solidFill>
              <a:srgbClr val="1596B0"/>
            </a:solidFill>
            <a:prstDash val="solid"/>
          </a:ln>
        </p:spPr>
      </p:sp>
      <p:sp>
        <p:nvSpPr>
          <p:cNvPr id="27" name="Text 25"/>
          <p:cNvSpPr/>
          <p:nvPr/>
        </p:nvSpPr>
        <p:spPr>
          <a:xfrm>
            <a:off x="8561832" y="3447288"/>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Gap Analysis</a:t>
            </a:r>
            <a:endParaRPr lang="en-US" sz="1050" dirty="0"/>
          </a:p>
        </p:txBody>
      </p:sp>
      <p:sp>
        <p:nvSpPr>
          <p:cNvPr id="28" name="Text 26"/>
          <p:cNvSpPr/>
          <p:nvPr/>
        </p:nvSpPr>
        <p:spPr>
          <a:xfrm>
            <a:off x="548640" y="4187952"/>
            <a:ext cx="1417320" cy="658368"/>
          </a:xfrm>
          <a:prstGeom prst="rect">
            <a:avLst/>
          </a:prstGeom>
          <a:noFill/>
          <a:ln/>
        </p:spPr>
        <p:txBody>
          <a:bodyPr wrap="square" rtlCol="0" anchor="ctr"/>
          <a:lstStyle/>
          <a:p>
            <a:pPr indent="0" marL="0">
              <a:buNone/>
            </a:pPr>
            <a:r>
              <a:rPr lang="en-US" sz="1050" b="1" spc="100" kern="0" dirty="0">
                <a:solidFill>
                  <a:srgbClr val="8BE3FD"/>
                </a:solidFill>
                <a:latin typeface="Arial" pitchFamily="34" charset="0"/>
                <a:ea typeface="Arial" pitchFamily="34" charset="-122"/>
                <a:cs typeface="Arial" pitchFamily="34" charset="-120"/>
              </a:rPr>
              <a:t>ACTION</a:t>
            </a:r>
            <a:endParaRPr lang="en-US" sz="1050" dirty="0"/>
          </a:p>
        </p:txBody>
      </p:sp>
      <p:sp>
        <p:nvSpPr>
          <p:cNvPr id="29" name="Shape 27"/>
          <p:cNvSpPr/>
          <p:nvPr/>
        </p:nvSpPr>
        <p:spPr>
          <a:xfrm>
            <a:off x="2103120" y="4187952"/>
            <a:ext cx="3096768" cy="658368"/>
          </a:xfrm>
          <a:prstGeom prst="roundRect">
            <a:avLst>
              <a:gd name="adj" fmla="val 6944"/>
            </a:avLst>
          </a:prstGeom>
          <a:solidFill>
            <a:srgbClr val="16282C"/>
          </a:solidFill>
          <a:ln w="9525">
            <a:solidFill>
              <a:srgbClr val="1596B0"/>
            </a:solidFill>
            <a:prstDash val="solid"/>
          </a:ln>
        </p:spPr>
      </p:sp>
      <p:sp>
        <p:nvSpPr>
          <p:cNvPr id="30" name="Text 28"/>
          <p:cNvSpPr/>
          <p:nvPr/>
        </p:nvSpPr>
        <p:spPr>
          <a:xfrm>
            <a:off x="2148840" y="4187952"/>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Training Requirement</a:t>
            </a:r>
            <a:endParaRPr lang="en-US" sz="1050" dirty="0"/>
          </a:p>
        </p:txBody>
      </p:sp>
      <p:sp>
        <p:nvSpPr>
          <p:cNvPr id="31" name="Shape 29"/>
          <p:cNvSpPr/>
          <p:nvPr/>
        </p:nvSpPr>
        <p:spPr>
          <a:xfrm>
            <a:off x="5309616" y="4187952"/>
            <a:ext cx="3096768" cy="658368"/>
          </a:xfrm>
          <a:prstGeom prst="roundRect">
            <a:avLst>
              <a:gd name="adj" fmla="val 6944"/>
            </a:avLst>
          </a:prstGeom>
          <a:solidFill>
            <a:srgbClr val="16282C"/>
          </a:solidFill>
          <a:ln w="9525">
            <a:solidFill>
              <a:srgbClr val="1596B0"/>
            </a:solidFill>
            <a:prstDash val="solid"/>
          </a:ln>
        </p:spPr>
      </p:sp>
      <p:sp>
        <p:nvSpPr>
          <p:cNvPr id="32" name="Text 30"/>
          <p:cNvSpPr/>
          <p:nvPr/>
        </p:nvSpPr>
        <p:spPr>
          <a:xfrm>
            <a:off x="5355336" y="4187952"/>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Training Assignment</a:t>
            </a:r>
            <a:endParaRPr lang="en-US" sz="1050" dirty="0"/>
          </a:p>
        </p:txBody>
      </p:sp>
      <p:sp>
        <p:nvSpPr>
          <p:cNvPr id="33" name="Shape 31"/>
          <p:cNvSpPr/>
          <p:nvPr/>
        </p:nvSpPr>
        <p:spPr>
          <a:xfrm>
            <a:off x="8516112" y="4187952"/>
            <a:ext cx="3096768" cy="658368"/>
          </a:xfrm>
          <a:prstGeom prst="roundRect">
            <a:avLst>
              <a:gd name="adj" fmla="val 6944"/>
            </a:avLst>
          </a:prstGeom>
          <a:solidFill>
            <a:srgbClr val="16282C"/>
          </a:solidFill>
          <a:ln w="9525">
            <a:solidFill>
              <a:srgbClr val="1596B0"/>
            </a:solidFill>
            <a:prstDash val="solid"/>
          </a:ln>
        </p:spPr>
      </p:sp>
      <p:sp>
        <p:nvSpPr>
          <p:cNvPr id="34" name="Text 32"/>
          <p:cNvSpPr/>
          <p:nvPr/>
        </p:nvSpPr>
        <p:spPr>
          <a:xfrm>
            <a:off x="8561832" y="4187952"/>
            <a:ext cx="3005328"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Training / Video Meeting</a:t>
            </a:r>
            <a:endParaRPr lang="en-US" sz="1050" dirty="0"/>
          </a:p>
        </p:txBody>
      </p:sp>
      <p:sp>
        <p:nvSpPr>
          <p:cNvPr id="35" name="Text 33"/>
          <p:cNvSpPr/>
          <p:nvPr/>
        </p:nvSpPr>
        <p:spPr>
          <a:xfrm>
            <a:off x="548640" y="4928616"/>
            <a:ext cx="1417320" cy="658368"/>
          </a:xfrm>
          <a:prstGeom prst="rect">
            <a:avLst/>
          </a:prstGeom>
          <a:noFill/>
          <a:ln/>
        </p:spPr>
        <p:txBody>
          <a:bodyPr wrap="square" rtlCol="0" anchor="ctr"/>
          <a:lstStyle/>
          <a:p>
            <a:pPr indent="0" marL="0">
              <a:buNone/>
            </a:pPr>
            <a:r>
              <a:rPr lang="en-US" sz="1050" b="1" spc="100" kern="0" dirty="0">
                <a:solidFill>
                  <a:srgbClr val="8BE3FD"/>
                </a:solidFill>
                <a:latin typeface="Arial" pitchFamily="34" charset="0"/>
                <a:ea typeface="Arial" pitchFamily="34" charset="-122"/>
                <a:cs typeface="Arial" pitchFamily="34" charset="-120"/>
              </a:rPr>
              <a:t>OUTCOME</a:t>
            </a:r>
            <a:endParaRPr lang="en-US" sz="1050" dirty="0"/>
          </a:p>
        </p:txBody>
      </p:sp>
      <p:sp>
        <p:nvSpPr>
          <p:cNvPr id="36" name="Shape 34"/>
          <p:cNvSpPr/>
          <p:nvPr/>
        </p:nvSpPr>
        <p:spPr>
          <a:xfrm>
            <a:off x="2103120" y="4928616"/>
            <a:ext cx="2295144" cy="658368"/>
          </a:xfrm>
          <a:prstGeom prst="roundRect">
            <a:avLst>
              <a:gd name="adj" fmla="val 6944"/>
            </a:avLst>
          </a:prstGeom>
          <a:solidFill>
            <a:srgbClr val="16282C"/>
          </a:solidFill>
          <a:ln w="9525">
            <a:solidFill>
              <a:srgbClr val="1596B0"/>
            </a:solidFill>
            <a:prstDash val="solid"/>
          </a:ln>
        </p:spPr>
      </p:sp>
      <p:sp>
        <p:nvSpPr>
          <p:cNvPr id="37" name="Text 35"/>
          <p:cNvSpPr/>
          <p:nvPr/>
        </p:nvSpPr>
        <p:spPr>
          <a:xfrm>
            <a:off x="2148840" y="4928616"/>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Reassessment</a:t>
            </a:r>
            <a:endParaRPr lang="en-US" sz="1050" dirty="0"/>
          </a:p>
        </p:txBody>
      </p:sp>
      <p:sp>
        <p:nvSpPr>
          <p:cNvPr id="38" name="Shape 36"/>
          <p:cNvSpPr/>
          <p:nvPr/>
        </p:nvSpPr>
        <p:spPr>
          <a:xfrm>
            <a:off x="4507992" y="4928616"/>
            <a:ext cx="2295144" cy="658368"/>
          </a:xfrm>
          <a:prstGeom prst="roundRect">
            <a:avLst>
              <a:gd name="adj" fmla="val 6944"/>
            </a:avLst>
          </a:prstGeom>
          <a:solidFill>
            <a:srgbClr val="16282C"/>
          </a:solidFill>
          <a:ln w="9525">
            <a:solidFill>
              <a:srgbClr val="1596B0"/>
            </a:solidFill>
            <a:prstDash val="solid"/>
          </a:ln>
        </p:spPr>
      </p:sp>
      <p:sp>
        <p:nvSpPr>
          <p:cNvPr id="39" name="Text 37"/>
          <p:cNvSpPr/>
          <p:nvPr/>
        </p:nvSpPr>
        <p:spPr>
          <a:xfrm>
            <a:off x="4553712" y="4928616"/>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Competency Update</a:t>
            </a:r>
            <a:endParaRPr lang="en-US" sz="1050" dirty="0"/>
          </a:p>
        </p:txBody>
      </p:sp>
      <p:sp>
        <p:nvSpPr>
          <p:cNvPr id="40" name="Shape 38"/>
          <p:cNvSpPr/>
          <p:nvPr/>
        </p:nvSpPr>
        <p:spPr>
          <a:xfrm>
            <a:off x="6912864" y="4928616"/>
            <a:ext cx="2295144" cy="658368"/>
          </a:xfrm>
          <a:prstGeom prst="roundRect">
            <a:avLst>
              <a:gd name="adj" fmla="val 6944"/>
            </a:avLst>
          </a:prstGeom>
          <a:solidFill>
            <a:srgbClr val="16282C"/>
          </a:solidFill>
          <a:ln w="9525">
            <a:solidFill>
              <a:srgbClr val="1596B0"/>
            </a:solidFill>
            <a:prstDash val="solid"/>
          </a:ln>
        </p:spPr>
      </p:sp>
      <p:sp>
        <p:nvSpPr>
          <p:cNvPr id="41" name="Text 39"/>
          <p:cNvSpPr/>
          <p:nvPr/>
        </p:nvSpPr>
        <p:spPr>
          <a:xfrm>
            <a:off x="6958584" y="4928616"/>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Certification</a:t>
            </a:r>
            <a:endParaRPr lang="en-US" sz="1050" dirty="0"/>
          </a:p>
        </p:txBody>
      </p:sp>
      <p:sp>
        <p:nvSpPr>
          <p:cNvPr id="42" name="Shape 40"/>
          <p:cNvSpPr/>
          <p:nvPr/>
        </p:nvSpPr>
        <p:spPr>
          <a:xfrm>
            <a:off x="9317736" y="4928616"/>
            <a:ext cx="2295144" cy="658368"/>
          </a:xfrm>
          <a:prstGeom prst="roundRect">
            <a:avLst>
              <a:gd name="adj" fmla="val 6944"/>
            </a:avLst>
          </a:prstGeom>
          <a:solidFill>
            <a:srgbClr val="16282C"/>
          </a:solidFill>
          <a:ln w="9525">
            <a:solidFill>
              <a:srgbClr val="1596B0"/>
            </a:solidFill>
            <a:prstDash val="solid"/>
          </a:ln>
        </p:spPr>
      </p:sp>
      <p:sp>
        <p:nvSpPr>
          <p:cNvPr id="43" name="Text 41"/>
          <p:cNvSpPr/>
          <p:nvPr/>
        </p:nvSpPr>
        <p:spPr>
          <a:xfrm>
            <a:off x="9363456" y="4928616"/>
            <a:ext cx="2203704" cy="658368"/>
          </a:xfrm>
          <a:prstGeom prst="rect">
            <a:avLst/>
          </a:prstGeom>
          <a:noFill/>
          <a:ln/>
        </p:spPr>
        <p:txBody>
          <a:bodyPr wrap="square" rtlCol="0" anchor="ctr"/>
          <a:lstStyle/>
          <a:p>
            <a:pPr algn="ctr" indent="0" marL="0">
              <a:lnSpc>
                <a:spcPts val="1200"/>
              </a:lnSpc>
              <a:buNone/>
            </a:pPr>
            <a:r>
              <a:rPr lang="en-US" sz="1050" b="1" dirty="0">
                <a:solidFill>
                  <a:srgbClr val="FFFFFF"/>
                </a:solidFill>
                <a:latin typeface="Arial" pitchFamily="34" charset="0"/>
                <a:ea typeface="Arial" pitchFamily="34" charset="-122"/>
                <a:cs typeface="Arial" pitchFamily="34" charset="-120"/>
              </a:rPr>
              <a:t>Reports &amp; Dashboard</a:t>
            </a:r>
            <a:endParaRPr lang="en-US" sz="1050" dirty="0"/>
          </a:p>
        </p:txBody>
      </p:sp>
      <p:sp>
        <p:nvSpPr>
          <p:cNvPr id="44" name="Text 42"/>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45" name="Text 4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5</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Employee &amp; Workforce Management</a:t>
            </a:r>
            <a:endParaRPr lang="en-US" sz="2700" dirty="0"/>
          </a:p>
        </p:txBody>
      </p:sp>
      <p:sp>
        <p:nvSpPr>
          <p:cNvPr id="4" name="Text 2"/>
          <p:cNvSpPr/>
          <p:nvPr/>
        </p:nvSpPr>
        <p:spPr>
          <a:xfrm>
            <a:off x="548640" y="1417320"/>
            <a:ext cx="11064240" cy="502920"/>
          </a:xfrm>
          <a:prstGeom prst="rect">
            <a:avLst/>
          </a:prstGeom>
          <a:noFill/>
          <a:ln/>
        </p:spPr>
        <p:txBody>
          <a:bodyPr wrap="square" rtlCol="0" anchor="ctr"/>
          <a:lstStyle/>
          <a:p>
            <a:pPr indent="0" marL="0">
              <a:buNone/>
            </a:pPr>
            <a:r>
              <a:rPr lang="en-US" sz="1450" dirty="0">
                <a:solidFill>
                  <a:srgbClr val="17262A"/>
                </a:solidFill>
                <a:latin typeface="Arial" pitchFamily="34" charset="0"/>
                <a:ea typeface="Arial" pitchFamily="34" charset="-122"/>
                <a:cs typeface="Arial" pitchFamily="34" charset="-120"/>
              </a:rPr>
              <a:t>A central Employee Master — one authoritative record per employee, replacing scattered spreadsheets.</a:t>
            </a:r>
            <a:endParaRPr lang="en-US" sz="1450" dirty="0"/>
          </a:p>
        </p:txBody>
      </p:sp>
      <p:sp>
        <p:nvSpPr>
          <p:cNvPr id="5" name="Shape 3"/>
          <p:cNvSpPr/>
          <p:nvPr/>
        </p:nvSpPr>
        <p:spPr>
          <a:xfrm>
            <a:off x="548640" y="2148840"/>
            <a:ext cx="2606040" cy="1188720"/>
          </a:xfrm>
          <a:prstGeom prst="roundRect">
            <a:avLst>
              <a:gd name="adj" fmla="val 4615"/>
            </a:avLst>
          </a:prstGeom>
          <a:solidFill>
            <a:srgbClr val="EAFBFF"/>
          </a:solidFill>
          <a:ln/>
        </p:spPr>
      </p:sp>
      <p:sp>
        <p:nvSpPr>
          <p:cNvPr id="6" name="Shape 4"/>
          <p:cNvSpPr/>
          <p:nvPr/>
        </p:nvSpPr>
        <p:spPr>
          <a:xfrm>
            <a:off x="548640" y="2148840"/>
            <a:ext cx="45720" cy="1188720"/>
          </a:xfrm>
          <a:prstGeom prst="rect">
            <a:avLst/>
          </a:prstGeom>
          <a:solidFill>
            <a:srgbClr val="0E7490"/>
          </a:solidFill>
          <a:ln/>
        </p:spPr>
      </p:sp>
      <p:sp>
        <p:nvSpPr>
          <p:cNvPr id="7" name="Text 5"/>
          <p:cNvSpPr/>
          <p:nvPr/>
        </p:nvSpPr>
        <p:spPr>
          <a:xfrm>
            <a:off x="731520" y="2148840"/>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Employee ID &amp; basic details</a:t>
            </a:r>
            <a:endParaRPr lang="en-US" sz="1200" dirty="0"/>
          </a:p>
        </p:txBody>
      </p:sp>
      <p:sp>
        <p:nvSpPr>
          <p:cNvPr id="8" name="Shape 6"/>
          <p:cNvSpPr/>
          <p:nvPr/>
        </p:nvSpPr>
        <p:spPr>
          <a:xfrm>
            <a:off x="3291840" y="2148840"/>
            <a:ext cx="2606040" cy="1188720"/>
          </a:xfrm>
          <a:prstGeom prst="roundRect">
            <a:avLst>
              <a:gd name="adj" fmla="val 4615"/>
            </a:avLst>
          </a:prstGeom>
          <a:solidFill>
            <a:srgbClr val="EAFBFF"/>
          </a:solidFill>
          <a:ln/>
        </p:spPr>
      </p:sp>
      <p:sp>
        <p:nvSpPr>
          <p:cNvPr id="9" name="Shape 7"/>
          <p:cNvSpPr/>
          <p:nvPr/>
        </p:nvSpPr>
        <p:spPr>
          <a:xfrm>
            <a:off x="3291840" y="2148840"/>
            <a:ext cx="45720" cy="1188720"/>
          </a:xfrm>
          <a:prstGeom prst="rect">
            <a:avLst/>
          </a:prstGeom>
          <a:solidFill>
            <a:srgbClr val="0E7490"/>
          </a:solidFill>
          <a:ln/>
        </p:spPr>
      </p:sp>
      <p:sp>
        <p:nvSpPr>
          <p:cNvPr id="10" name="Text 8"/>
          <p:cNvSpPr/>
          <p:nvPr/>
        </p:nvSpPr>
        <p:spPr>
          <a:xfrm>
            <a:off x="3474720" y="2148840"/>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Designation, department, job category, site</a:t>
            </a:r>
            <a:endParaRPr lang="en-US" sz="1200" dirty="0"/>
          </a:p>
        </p:txBody>
      </p:sp>
      <p:sp>
        <p:nvSpPr>
          <p:cNvPr id="11" name="Shape 9"/>
          <p:cNvSpPr/>
          <p:nvPr/>
        </p:nvSpPr>
        <p:spPr>
          <a:xfrm>
            <a:off x="6035040" y="2148840"/>
            <a:ext cx="2606040" cy="1188720"/>
          </a:xfrm>
          <a:prstGeom prst="roundRect">
            <a:avLst>
              <a:gd name="adj" fmla="val 4615"/>
            </a:avLst>
          </a:prstGeom>
          <a:solidFill>
            <a:srgbClr val="EAFBFF"/>
          </a:solidFill>
          <a:ln/>
        </p:spPr>
      </p:sp>
      <p:sp>
        <p:nvSpPr>
          <p:cNvPr id="12" name="Shape 10"/>
          <p:cNvSpPr/>
          <p:nvPr/>
        </p:nvSpPr>
        <p:spPr>
          <a:xfrm>
            <a:off x="6035040" y="2148840"/>
            <a:ext cx="45720" cy="1188720"/>
          </a:xfrm>
          <a:prstGeom prst="rect">
            <a:avLst/>
          </a:prstGeom>
          <a:solidFill>
            <a:srgbClr val="0E7490"/>
          </a:solidFill>
          <a:ln/>
        </p:spPr>
      </p:sp>
      <p:sp>
        <p:nvSpPr>
          <p:cNvPr id="13" name="Text 11"/>
          <p:cNvSpPr/>
          <p:nvPr/>
        </p:nvSpPr>
        <p:spPr>
          <a:xfrm>
            <a:off x="6217920" y="2148840"/>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Experience</a:t>
            </a:r>
            <a:endParaRPr lang="en-US" sz="1200" dirty="0"/>
          </a:p>
        </p:txBody>
      </p:sp>
      <p:sp>
        <p:nvSpPr>
          <p:cNvPr id="14" name="Shape 12"/>
          <p:cNvSpPr/>
          <p:nvPr/>
        </p:nvSpPr>
        <p:spPr>
          <a:xfrm>
            <a:off x="8778240" y="2148840"/>
            <a:ext cx="2606040" cy="1188720"/>
          </a:xfrm>
          <a:prstGeom prst="roundRect">
            <a:avLst>
              <a:gd name="adj" fmla="val 4615"/>
            </a:avLst>
          </a:prstGeom>
          <a:solidFill>
            <a:srgbClr val="EAFBFF"/>
          </a:solidFill>
          <a:ln/>
        </p:spPr>
      </p:sp>
      <p:sp>
        <p:nvSpPr>
          <p:cNvPr id="15" name="Shape 13"/>
          <p:cNvSpPr/>
          <p:nvPr/>
        </p:nvSpPr>
        <p:spPr>
          <a:xfrm>
            <a:off x="8778240" y="2148840"/>
            <a:ext cx="45720" cy="1188720"/>
          </a:xfrm>
          <a:prstGeom prst="rect">
            <a:avLst/>
          </a:prstGeom>
          <a:solidFill>
            <a:srgbClr val="0E7490"/>
          </a:solidFill>
          <a:ln/>
        </p:spPr>
      </p:sp>
      <p:sp>
        <p:nvSpPr>
          <p:cNvPr id="16" name="Text 14"/>
          <p:cNvSpPr/>
          <p:nvPr/>
        </p:nvSpPr>
        <p:spPr>
          <a:xfrm>
            <a:off x="8961120" y="2148840"/>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Documents</a:t>
            </a:r>
            <a:endParaRPr lang="en-US" sz="1200" dirty="0"/>
          </a:p>
        </p:txBody>
      </p:sp>
      <p:sp>
        <p:nvSpPr>
          <p:cNvPr id="17" name="Shape 15"/>
          <p:cNvSpPr/>
          <p:nvPr/>
        </p:nvSpPr>
        <p:spPr>
          <a:xfrm>
            <a:off x="548640" y="3502152"/>
            <a:ext cx="2606040" cy="1188720"/>
          </a:xfrm>
          <a:prstGeom prst="roundRect">
            <a:avLst>
              <a:gd name="adj" fmla="val 4615"/>
            </a:avLst>
          </a:prstGeom>
          <a:solidFill>
            <a:srgbClr val="EAFBFF"/>
          </a:solidFill>
          <a:ln/>
        </p:spPr>
      </p:sp>
      <p:sp>
        <p:nvSpPr>
          <p:cNvPr id="18" name="Shape 16"/>
          <p:cNvSpPr/>
          <p:nvPr/>
        </p:nvSpPr>
        <p:spPr>
          <a:xfrm>
            <a:off x="548640" y="3502152"/>
            <a:ext cx="45720" cy="1188720"/>
          </a:xfrm>
          <a:prstGeom prst="rect">
            <a:avLst/>
          </a:prstGeom>
          <a:solidFill>
            <a:srgbClr val="0E7490"/>
          </a:solidFill>
          <a:ln/>
        </p:spPr>
      </p:sp>
      <p:sp>
        <p:nvSpPr>
          <p:cNvPr id="19" name="Text 17"/>
          <p:cNvSpPr/>
          <p:nvPr/>
        </p:nvSpPr>
        <p:spPr>
          <a:xfrm>
            <a:off x="731520" y="3502152"/>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Assessment history</a:t>
            </a:r>
            <a:endParaRPr lang="en-US" sz="1200" dirty="0"/>
          </a:p>
        </p:txBody>
      </p:sp>
      <p:sp>
        <p:nvSpPr>
          <p:cNvPr id="20" name="Shape 18"/>
          <p:cNvSpPr/>
          <p:nvPr/>
        </p:nvSpPr>
        <p:spPr>
          <a:xfrm>
            <a:off x="3291840" y="3502152"/>
            <a:ext cx="2606040" cy="1188720"/>
          </a:xfrm>
          <a:prstGeom prst="roundRect">
            <a:avLst>
              <a:gd name="adj" fmla="val 4615"/>
            </a:avLst>
          </a:prstGeom>
          <a:solidFill>
            <a:srgbClr val="EAFBFF"/>
          </a:solidFill>
          <a:ln/>
        </p:spPr>
      </p:sp>
      <p:sp>
        <p:nvSpPr>
          <p:cNvPr id="21" name="Shape 19"/>
          <p:cNvSpPr/>
          <p:nvPr/>
        </p:nvSpPr>
        <p:spPr>
          <a:xfrm>
            <a:off x="3291840" y="3502152"/>
            <a:ext cx="45720" cy="1188720"/>
          </a:xfrm>
          <a:prstGeom prst="rect">
            <a:avLst/>
          </a:prstGeom>
          <a:solidFill>
            <a:srgbClr val="0E7490"/>
          </a:solidFill>
          <a:ln/>
        </p:spPr>
      </p:sp>
      <p:sp>
        <p:nvSpPr>
          <p:cNvPr id="22" name="Text 20"/>
          <p:cNvSpPr/>
          <p:nvPr/>
        </p:nvSpPr>
        <p:spPr>
          <a:xfrm>
            <a:off x="3474720" y="3502152"/>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Training history</a:t>
            </a:r>
            <a:endParaRPr lang="en-US" sz="1200" dirty="0"/>
          </a:p>
        </p:txBody>
      </p:sp>
      <p:sp>
        <p:nvSpPr>
          <p:cNvPr id="23" name="Shape 21"/>
          <p:cNvSpPr/>
          <p:nvPr/>
        </p:nvSpPr>
        <p:spPr>
          <a:xfrm>
            <a:off x="6035040" y="3502152"/>
            <a:ext cx="2606040" cy="1188720"/>
          </a:xfrm>
          <a:prstGeom prst="roundRect">
            <a:avLst>
              <a:gd name="adj" fmla="val 4615"/>
            </a:avLst>
          </a:prstGeom>
          <a:solidFill>
            <a:srgbClr val="EAFBFF"/>
          </a:solidFill>
          <a:ln/>
        </p:spPr>
      </p:sp>
      <p:sp>
        <p:nvSpPr>
          <p:cNvPr id="24" name="Shape 22"/>
          <p:cNvSpPr/>
          <p:nvPr/>
        </p:nvSpPr>
        <p:spPr>
          <a:xfrm>
            <a:off x="6035040" y="3502152"/>
            <a:ext cx="45720" cy="1188720"/>
          </a:xfrm>
          <a:prstGeom prst="rect">
            <a:avLst/>
          </a:prstGeom>
          <a:solidFill>
            <a:srgbClr val="0E7490"/>
          </a:solidFill>
          <a:ln/>
        </p:spPr>
      </p:sp>
      <p:sp>
        <p:nvSpPr>
          <p:cNvPr id="25" name="Text 23"/>
          <p:cNvSpPr/>
          <p:nvPr/>
        </p:nvSpPr>
        <p:spPr>
          <a:xfrm>
            <a:off x="6217920" y="3502152"/>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Competency history</a:t>
            </a:r>
            <a:endParaRPr lang="en-US" sz="1200" dirty="0"/>
          </a:p>
        </p:txBody>
      </p:sp>
      <p:sp>
        <p:nvSpPr>
          <p:cNvPr id="26" name="Shape 24"/>
          <p:cNvSpPr/>
          <p:nvPr/>
        </p:nvSpPr>
        <p:spPr>
          <a:xfrm>
            <a:off x="8778240" y="3502152"/>
            <a:ext cx="2606040" cy="1188720"/>
          </a:xfrm>
          <a:prstGeom prst="roundRect">
            <a:avLst>
              <a:gd name="adj" fmla="val 4615"/>
            </a:avLst>
          </a:prstGeom>
          <a:solidFill>
            <a:srgbClr val="EAFBFF"/>
          </a:solidFill>
          <a:ln/>
        </p:spPr>
      </p:sp>
      <p:sp>
        <p:nvSpPr>
          <p:cNvPr id="27" name="Shape 25"/>
          <p:cNvSpPr/>
          <p:nvPr/>
        </p:nvSpPr>
        <p:spPr>
          <a:xfrm>
            <a:off x="8778240" y="3502152"/>
            <a:ext cx="45720" cy="1188720"/>
          </a:xfrm>
          <a:prstGeom prst="rect">
            <a:avLst/>
          </a:prstGeom>
          <a:solidFill>
            <a:srgbClr val="0E7490"/>
          </a:solidFill>
          <a:ln/>
        </p:spPr>
      </p:sp>
      <p:sp>
        <p:nvSpPr>
          <p:cNvPr id="28" name="Text 26"/>
          <p:cNvSpPr/>
          <p:nvPr/>
        </p:nvSpPr>
        <p:spPr>
          <a:xfrm>
            <a:off x="8961120" y="3502152"/>
            <a:ext cx="2286000" cy="1188720"/>
          </a:xfrm>
          <a:prstGeom prst="rect">
            <a:avLst/>
          </a:prstGeom>
          <a:noFill/>
          <a:ln/>
        </p:spPr>
        <p:txBody>
          <a:bodyPr wrap="square" rtlCol="0" anchor="ctr"/>
          <a:lstStyle/>
          <a:p>
            <a:pPr indent="0" marL="0">
              <a:lnSpc>
                <a:spcPts val="1500"/>
              </a:lnSpc>
              <a:buNone/>
            </a:pPr>
            <a:r>
              <a:rPr lang="en-US" sz="1200" b="1" dirty="0">
                <a:solidFill>
                  <a:srgbClr val="0A0F10"/>
                </a:solidFill>
                <a:latin typeface="Arial" pitchFamily="34" charset="0"/>
                <a:ea typeface="Arial" pitchFamily="34" charset="-122"/>
                <a:cs typeface="Arial" pitchFamily="34" charset="-120"/>
              </a:rPr>
              <a:t>Certificates</a:t>
            </a:r>
            <a:endParaRPr lang="en-US" sz="1200" dirty="0"/>
          </a:p>
        </p:txBody>
      </p:sp>
      <p:sp>
        <p:nvSpPr>
          <p:cNvPr id="29" name="Text 27"/>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30" name="Text 28"/>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6</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Job Category &amp; Competency Framework</a:t>
            </a:r>
            <a:endParaRPr lang="en-US" sz="2700" dirty="0"/>
          </a:p>
        </p:txBody>
      </p:sp>
      <p:sp>
        <p:nvSpPr>
          <p:cNvPr id="4" name="Text 2"/>
          <p:cNvSpPr/>
          <p:nvPr/>
        </p:nvSpPr>
        <p:spPr>
          <a:xfrm>
            <a:off x="548640" y="1417320"/>
            <a:ext cx="11064240" cy="685800"/>
          </a:xfrm>
          <a:prstGeom prst="rect">
            <a:avLst/>
          </a:prstGeom>
          <a:noFill/>
          <a:ln/>
        </p:spPr>
        <p:txBody>
          <a:bodyPr wrap="square" rtlCol="0" anchor="ctr"/>
          <a:lstStyle/>
          <a:p>
            <a:pPr indent="0" marL="0">
              <a:lnSpc>
                <a:spcPts val="1900"/>
              </a:lnSpc>
              <a:buNone/>
            </a:pPr>
            <a:r>
              <a:rPr lang="en-US" sz="1400" dirty="0">
                <a:solidFill>
                  <a:srgbClr val="17262A"/>
                </a:solidFill>
                <a:latin typeface="Arial" pitchFamily="34" charset="0"/>
                <a:ea typeface="Arial" pitchFamily="34" charset="-122"/>
                <a:cs typeface="Arial" pitchFamily="34" charset="-120"/>
              </a:rPr>
              <a:t>Each job category has a meaningfully different skill set. Rather than one fixed structure, the framework is configurable — every category can define its own:</a:t>
            </a:r>
            <a:endParaRPr lang="en-US" sz="1400" dirty="0"/>
          </a:p>
        </p:txBody>
      </p:sp>
      <p:sp>
        <p:nvSpPr>
          <p:cNvPr id="5" name="Text 3"/>
          <p:cNvSpPr/>
          <p:nvPr/>
        </p:nvSpPr>
        <p:spPr>
          <a:xfrm>
            <a:off x="548640" y="2286000"/>
            <a:ext cx="5394960" cy="4114800"/>
          </a:xfrm>
          <a:prstGeom prst="rect">
            <a:avLst/>
          </a:prstGeom>
          <a:noFill/>
          <a:ln/>
        </p:spPr>
        <p:txBody>
          <a:bodyPr wrap="square" rtlCol="0" anchor="t"/>
          <a:lstStyle/>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Competencies and skills / abilities</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Evaluation criteria</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Practical tasks</a:t>
            </a:r>
            <a:endParaRPr lang="en-US" sz="1350" dirty="0"/>
          </a:p>
        </p:txBody>
      </p:sp>
      <p:sp>
        <p:nvSpPr>
          <p:cNvPr id="6" name="Text 4"/>
          <p:cNvSpPr/>
          <p:nvPr/>
        </p:nvSpPr>
        <p:spPr>
          <a:xfrm>
            <a:off x="6126480" y="2286000"/>
            <a:ext cx="5394960" cy="4114800"/>
          </a:xfrm>
          <a:prstGeom prst="rect">
            <a:avLst/>
          </a:prstGeom>
          <a:noFill/>
          <a:ln/>
        </p:spPr>
        <p:txBody>
          <a:bodyPr wrap="square" rtlCol="0" anchor="t"/>
          <a:lstStyle/>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Oral parameters</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Written assessment content</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Scoring, weightage &amp; required levels</a:t>
            </a:r>
            <a:endParaRPr lang="en-US" sz="1350" dirty="0"/>
          </a:p>
        </p:txBody>
      </p:sp>
      <p:sp>
        <p:nvSpPr>
          <p:cNvPr id="7" name="Shape 5"/>
          <p:cNvSpPr/>
          <p:nvPr/>
        </p:nvSpPr>
        <p:spPr>
          <a:xfrm>
            <a:off x="548640" y="4114800"/>
            <a:ext cx="11064240" cy="1188720"/>
          </a:xfrm>
          <a:prstGeom prst="roundRect">
            <a:avLst>
              <a:gd name="adj" fmla="val 5385"/>
            </a:avLst>
          </a:prstGeom>
          <a:solidFill>
            <a:srgbClr val="0A0F10"/>
          </a:solidFill>
          <a:ln/>
        </p:spPr>
      </p:sp>
      <p:sp>
        <p:nvSpPr>
          <p:cNvPr id="8" name="Text 6"/>
          <p:cNvSpPr/>
          <p:nvPr/>
        </p:nvSpPr>
        <p:spPr>
          <a:xfrm>
            <a:off x="777240" y="4251960"/>
            <a:ext cx="3657600" cy="320040"/>
          </a:xfrm>
          <a:prstGeom prst="rect">
            <a:avLst/>
          </a:prstGeom>
          <a:noFill/>
          <a:ln/>
        </p:spPr>
        <p:txBody>
          <a:bodyPr wrap="square" rtlCol="0" anchor="ctr"/>
          <a:lstStyle/>
          <a:p>
            <a:pPr indent="0" marL="0">
              <a:buNone/>
            </a:pPr>
            <a:r>
              <a:rPr lang="en-US" sz="1200" b="1" dirty="0">
                <a:solidFill>
                  <a:srgbClr val="8BE3FD"/>
                </a:solidFill>
                <a:latin typeface="Arial" pitchFamily="34" charset="0"/>
                <a:ea typeface="Arial" pitchFamily="34" charset="-122"/>
                <a:cs typeface="Arial" pitchFamily="34" charset="-120"/>
              </a:rPr>
              <a:t>Categories seen so far:</a:t>
            </a:r>
            <a:endParaRPr lang="en-US" sz="1200" dirty="0"/>
          </a:p>
        </p:txBody>
      </p:sp>
      <p:sp>
        <p:nvSpPr>
          <p:cNvPr id="9" name="Shape 7"/>
          <p:cNvSpPr/>
          <p:nvPr/>
        </p:nvSpPr>
        <p:spPr>
          <a:xfrm>
            <a:off x="777240" y="4617720"/>
            <a:ext cx="2011680" cy="502920"/>
          </a:xfrm>
          <a:prstGeom prst="roundRect">
            <a:avLst>
              <a:gd name="adj" fmla="val 49091"/>
            </a:avLst>
          </a:prstGeom>
          <a:solidFill>
            <a:srgbClr val="16282C"/>
          </a:solidFill>
          <a:ln w="9525">
            <a:solidFill>
              <a:srgbClr val="1596B0"/>
            </a:solidFill>
            <a:prstDash val="solid"/>
          </a:ln>
        </p:spPr>
      </p:sp>
      <p:sp>
        <p:nvSpPr>
          <p:cNvPr id="10" name="Text 8"/>
          <p:cNvSpPr/>
          <p:nvPr/>
        </p:nvSpPr>
        <p:spPr>
          <a:xfrm>
            <a:off x="777240" y="4617720"/>
            <a:ext cx="2011680" cy="502920"/>
          </a:xfrm>
          <a:prstGeom prst="rect">
            <a:avLst/>
          </a:prstGeom>
          <a:noFill/>
          <a:ln/>
        </p:spPr>
        <p:txBody>
          <a:bodyPr wrap="square" rtlCol="0" anchor="ctr"/>
          <a:lstStyle/>
          <a:p>
            <a:pPr algn="ctr" indent="0" marL="0">
              <a:lnSpc>
                <a:spcPts val="1100"/>
              </a:lnSpc>
              <a:buNone/>
            </a:pPr>
            <a:r>
              <a:rPr lang="en-US" sz="950" b="1" dirty="0">
                <a:solidFill>
                  <a:srgbClr val="FFFFFF"/>
                </a:solidFill>
                <a:latin typeface="Arial" pitchFamily="34" charset="0"/>
                <a:ea typeface="Arial" pitchFamily="34" charset="-122"/>
                <a:cs typeface="Arial" pitchFamily="34" charset="-120"/>
              </a:rPr>
              <a:t>Shift Incharge / Site Incharge</a:t>
            </a:r>
            <a:endParaRPr lang="en-US" sz="950" dirty="0"/>
          </a:p>
        </p:txBody>
      </p:sp>
      <p:sp>
        <p:nvSpPr>
          <p:cNvPr id="11" name="Shape 9"/>
          <p:cNvSpPr/>
          <p:nvPr/>
        </p:nvSpPr>
        <p:spPr>
          <a:xfrm>
            <a:off x="2926080" y="4617720"/>
            <a:ext cx="2011680" cy="502920"/>
          </a:xfrm>
          <a:prstGeom prst="roundRect">
            <a:avLst>
              <a:gd name="adj" fmla="val 49091"/>
            </a:avLst>
          </a:prstGeom>
          <a:solidFill>
            <a:srgbClr val="16282C"/>
          </a:solidFill>
          <a:ln w="9525">
            <a:solidFill>
              <a:srgbClr val="1596B0"/>
            </a:solidFill>
            <a:prstDash val="solid"/>
          </a:ln>
        </p:spPr>
      </p:sp>
      <p:sp>
        <p:nvSpPr>
          <p:cNvPr id="12" name="Text 10"/>
          <p:cNvSpPr/>
          <p:nvPr/>
        </p:nvSpPr>
        <p:spPr>
          <a:xfrm>
            <a:off x="2926080" y="4617720"/>
            <a:ext cx="2011680" cy="502920"/>
          </a:xfrm>
          <a:prstGeom prst="rect">
            <a:avLst/>
          </a:prstGeom>
          <a:noFill/>
          <a:ln/>
        </p:spPr>
        <p:txBody>
          <a:bodyPr wrap="square" rtlCol="0" anchor="ctr"/>
          <a:lstStyle/>
          <a:p>
            <a:pPr algn="ctr" indent="0" marL="0">
              <a:lnSpc>
                <a:spcPts val="1100"/>
              </a:lnSpc>
              <a:buNone/>
            </a:pPr>
            <a:r>
              <a:rPr lang="en-US" sz="950" b="1" dirty="0">
                <a:solidFill>
                  <a:srgbClr val="FFFFFF"/>
                </a:solidFill>
                <a:latin typeface="Arial" pitchFamily="34" charset="0"/>
                <a:ea typeface="Arial" pitchFamily="34" charset="-122"/>
                <a:cs typeface="Arial" pitchFamily="34" charset="-120"/>
              </a:rPr>
              <a:t>Filter Operator</a:t>
            </a:r>
            <a:endParaRPr lang="en-US" sz="950" dirty="0"/>
          </a:p>
        </p:txBody>
      </p:sp>
      <p:sp>
        <p:nvSpPr>
          <p:cNvPr id="13" name="Shape 11"/>
          <p:cNvSpPr/>
          <p:nvPr/>
        </p:nvSpPr>
        <p:spPr>
          <a:xfrm>
            <a:off x="5074920" y="4617720"/>
            <a:ext cx="2011680" cy="502920"/>
          </a:xfrm>
          <a:prstGeom prst="roundRect">
            <a:avLst>
              <a:gd name="adj" fmla="val 49091"/>
            </a:avLst>
          </a:prstGeom>
          <a:solidFill>
            <a:srgbClr val="16282C"/>
          </a:solidFill>
          <a:ln w="9525">
            <a:solidFill>
              <a:srgbClr val="1596B0"/>
            </a:solidFill>
            <a:prstDash val="solid"/>
          </a:ln>
        </p:spPr>
      </p:sp>
      <p:sp>
        <p:nvSpPr>
          <p:cNvPr id="14" name="Text 12"/>
          <p:cNvSpPr/>
          <p:nvPr/>
        </p:nvSpPr>
        <p:spPr>
          <a:xfrm>
            <a:off x="5074920" y="4617720"/>
            <a:ext cx="2011680" cy="502920"/>
          </a:xfrm>
          <a:prstGeom prst="rect">
            <a:avLst/>
          </a:prstGeom>
          <a:noFill/>
          <a:ln/>
        </p:spPr>
        <p:txBody>
          <a:bodyPr wrap="square" rtlCol="0" anchor="ctr"/>
          <a:lstStyle/>
          <a:p>
            <a:pPr algn="ctr" indent="0" marL="0">
              <a:lnSpc>
                <a:spcPts val="1100"/>
              </a:lnSpc>
              <a:buNone/>
            </a:pPr>
            <a:r>
              <a:rPr lang="en-US" sz="950" b="1" dirty="0">
                <a:solidFill>
                  <a:srgbClr val="FFFFFF"/>
                </a:solidFill>
                <a:latin typeface="Arial" pitchFamily="34" charset="0"/>
                <a:ea typeface="Arial" pitchFamily="34" charset="-122"/>
                <a:cs typeface="Arial" pitchFamily="34" charset="-120"/>
              </a:rPr>
              <a:t>R.P. category</a:t>
            </a:r>
            <a:endParaRPr lang="en-US" sz="950" dirty="0"/>
          </a:p>
        </p:txBody>
      </p:sp>
      <p:sp>
        <p:nvSpPr>
          <p:cNvPr id="15" name="Shape 13"/>
          <p:cNvSpPr/>
          <p:nvPr/>
        </p:nvSpPr>
        <p:spPr>
          <a:xfrm>
            <a:off x="7223760" y="4617720"/>
            <a:ext cx="2011680" cy="502920"/>
          </a:xfrm>
          <a:prstGeom prst="roundRect">
            <a:avLst>
              <a:gd name="adj" fmla="val 49091"/>
            </a:avLst>
          </a:prstGeom>
          <a:solidFill>
            <a:srgbClr val="16282C"/>
          </a:solidFill>
          <a:ln w="9525">
            <a:solidFill>
              <a:srgbClr val="1596B0"/>
            </a:solidFill>
            <a:prstDash val="solid"/>
          </a:ln>
        </p:spPr>
      </p:sp>
      <p:sp>
        <p:nvSpPr>
          <p:cNvPr id="16" name="Text 14"/>
          <p:cNvSpPr/>
          <p:nvPr/>
        </p:nvSpPr>
        <p:spPr>
          <a:xfrm>
            <a:off x="7223760" y="4617720"/>
            <a:ext cx="2011680" cy="502920"/>
          </a:xfrm>
          <a:prstGeom prst="rect">
            <a:avLst/>
          </a:prstGeom>
          <a:noFill/>
          <a:ln/>
        </p:spPr>
        <p:txBody>
          <a:bodyPr wrap="square" rtlCol="0" anchor="ctr"/>
          <a:lstStyle/>
          <a:p>
            <a:pPr algn="ctr" indent="0" marL="0">
              <a:lnSpc>
                <a:spcPts val="1100"/>
              </a:lnSpc>
              <a:buNone/>
            </a:pPr>
            <a:r>
              <a:rPr lang="en-US" sz="950" b="1" dirty="0">
                <a:solidFill>
                  <a:srgbClr val="FFFFFF"/>
                </a:solidFill>
                <a:latin typeface="Arial" pitchFamily="34" charset="0"/>
                <a:ea typeface="Arial" pitchFamily="34" charset="-122"/>
                <a:cs typeface="Arial" pitchFamily="34" charset="-120"/>
              </a:rPr>
              <a:t>Helper / RTPI</a:t>
            </a:r>
            <a:endParaRPr lang="en-US" sz="950" dirty="0"/>
          </a:p>
        </p:txBody>
      </p:sp>
      <p:sp>
        <p:nvSpPr>
          <p:cNvPr id="17" name="Shape 15"/>
          <p:cNvSpPr/>
          <p:nvPr/>
        </p:nvSpPr>
        <p:spPr>
          <a:xfrm>
            <a:off x="9372600" y="4617720"/>
            <a:ext cx="2011680" cy="502920"/>
          </a:xfrm>
          <a:prstGeom prst="roundRect">
            <a:avLst>
              <a:gd name="adj" fmla="val 49091"/>
            </a:avLst>
          </a:prstGeom>
          <a:solidFill>
            <a:srgbClr val="16282C"/>
          </a:solidFill>
          <a:ln w="9525">
            <a:solidFill>
              <a:srgbClr val="1596B0"/>
            </a:solidFill>
            <a:prstDash val="solid"/>
          </a:ln>
        </p:spPr>
      </p:sp>
      <p:sp>
        <p:nvSpPr>
          <p:cNvPr id="18" name="Text 16"/>
          <p:cNvSpPr/>
          <p:nvPr/>
        </p:nvSpPr>
        <p:spPr>
          <a:xfrm>
            <a:off x="9372600" y="4617720"/>
            <a:ext cx="2011680" cy="502920"/>
          </a:xfrm>
          <a:prstGeom prst="rect">
            <a:avLst/>
          </a:prstGeom>
          <a:noFill/>
          <a:ln/>
        </p:spPr>
        <p:txBody>
          <a:bodyPr wrap="square" rtlCol="0" anchor="ctr"/>
          <a:lstStyle/>
          <a:p>
            <a:pPr algn="ctr" indent="0" marL="0">
              <a:lnSpc>
                <a:spcPts val="1100"/>
              </a:lnSpc>
              <a:buNone/>
            </a:pPr>
            <a:r>
              <a:rPr lang="en-US" sz="950" b="1" dirty="0">
                <a:solidFill>
                  <a:srgbClr val="FFFFFF"/>
                </a:solidFill>
                <a:latin typeface="Arial" pitchFamily="34" charset="0"/>
                <a:ea typeface="Arial" pitchFamily="34" charset="-122"/>
                <a:cs typeface="Arial" pitchFamily="34" charset="-120"/>
              </a:rPr>
              <a:t>Plant Operator</a:t>
            </a:r>
            <a:endParaRPr lang="en-US" sz="950" dirty="0"/>
          </a:p>
        </p:txBody>
      </p:sp>
      <p:sp>
        <p:nvSpPr>
          <p:cNvPr id="19" name="Shape 17"/>
          <p:cNvSpPr/>
          <p:nvPr/>
        </p:nvSpPr>
        <p:spPr>
          <a:xfrm>
            <a:off x="548640" y="5486400"/>
            <a:ext cx="45720" cy="457200"/>
          </a:xfrm>
          <a:prstGeom prst="rect">
            <a:avLst/>
          </a:prstGeom>
          <a:solidFill>
            <a:srgbClr val="D97B3F"/>
          </a:solidFill>
          <a:ln/>
        </p:spPr>
      </p:sp>
      <p:sp>
        <p:nvSpPr>
          <p:cNvPr id="20" name="Text 18"/>
          <p:cNvSpPr/>
          <p:nvPr/>
        </p:nvSpPr>
        <p:spPr>
          <a:xfrm>
            <a:off x="749808" y="5486400"/>
            <a:ext cx="10863072" cy="457200"/>
          </a:xfrm>
          <a:prstGeom prst="rect">
            <a:avLst/>
          </a:prstGeom>
          <a:noFill/>
          <a:ln/>
        </p:spPr>
        <p:txBody>
          <a:bodyPr wrap="square" rtlCol="0" anchor="t"/>
          <a:lstStyle/>
          <a:p>
            <a:pPr indent="0" marL="0">
              <a:lnSpc>
                <a:spcPts val="1500"/>
              </a:lnSpc>
              <a:buNone/>
            </a:pPr>
            <a:r>
              <a:rPr lang="en-US" sz="1200" i="1" dirty="0">
                <a:solidFill>
                  <a:srgbClr val="5B6B72"/>
                </a:solidFill>
                <a:latin typeface="Arial" pitchFamily="34" charset="0"/>
                <a:ea typeface="Arial" pitchFamily="34" charset="-122"/>
                <a:cs typeface="Arial" pitchFamily="34" charset="-120"/>
              </a:rPr>
              <a:t>The complete list, and the exact framework for each category, is still to be confirmed with NEIPL.</a:t>
            </a:r>
            <a:endParaRPr lang="en-US" sz="1200" dirty="0"/>
          </a:p>
        </p:txBody>
      </p:sp>
      <p:sp>
        <p:nvSpPr>
          <p:cNvPr id="21" name="Text 19"/>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2" name="Text 2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7</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Assessment Management</a:t>
            </a:r>
            <a:endParaRPr lang="en-US" sz="27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ts val="1900"/>
              </a:lnSpc>
              <a:buNone/>
            </a:pPr>
            <a:r>
              <a:rPr lang="en-US" sz="1450" dirty="0">
                <a:solidFill>
                  <a:srgbClr val="17262A"/>
                </a:solidFill>
                <a:latin typeface="Arial" pitchFamily="34" charset="0"/>
                <a:ea typeface="Arial" pitchFamily="34" charset="-122"/>
                <a:cs typeface="Arial" pitchFamily="34" charset="-120"/>
              </a:rPr>
              <a:t>The platform supports NEIPL's four assessment types, digitized and made consistent across job categories, each configurable per category.</a:t>
            </a:r>
            <a:endParaRPr lang="en-US" sz="1450" dirty="0"/>
          </a:p>
        </p:txBody>
      </p:sp>
      <p:sp>
        <p:nvSpPr>
          <p:cNvPr id="5" name="Shape 3"/>
          <p:cNvSpPr/>
          <p:nvPr/>
        </p:nvSpPr>
        <p:spPr>
          <a:xfrm>
            <a:off x="548640" y="2286000"/>
            <a:ext cx="2606040" cy="2651760"/>
          </a:xfrm>
          <a:prstGeom prst="roundRect">
            <a:avLst>
              <a:gd name="adj" fmla="val 2807"/>
            </a:avLst>
          </a:prstGeom>
          <a:solidFill>
            <a:srgbClr val="EAFBFF"/>
          </a:solidFill>
          <a:ln/>
        </p:spPr>
      </p:sp>
      <p:sp>
        <p:nvSpPr>
          <p:cNvPr id="6" name="Text 4"/>
          <p:cNvSpPr/>
          <p:nvPr/>
        </p:nvSpPr>
        <p:spPr>
          <a:xfrm>
            <a:off x="777240" y="2514600"/>
            <a:ext cx="548640" cy="548640"/>
          </a:xfrm>
          <a:prstGeom prst="rect">
            <a:avLst/>
          </a:prstGeom>
          <a:noFill/>
          <a:ln/>
        </p:spPr>
        <p:txBody>
          <a:bodyPr wrap="square" rtlCol="0" anchor="ctr"/>
          <a:lstStyle/>
          <a:p>
            <a:pPr indent="0" marL="0">
              <a:buNone/>
            </a:pPr>
            <a:r>
              <a:rPr lang="en-US" sz="2200" b="1" dirty="0">
                <a:solidFill>
                  <a:srgbClr val="0E7490"/>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777240" y="3108960"/>
            <a:ext cx="219456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Skill Mapping</a:t>
            </a:r>
            <a:endParaRPr lang="en-US" sz="1500" dirty="0"/>
          </a:p>
        </p:txBody>
      </p:sp>
      <p:sp>
        <p:nvSpPr>
          <p:cNvPr id="8" name="Text 6"/>
          <p:cNvSpPr/>
          <p:nvPr/>
        </p:nvSpPr>
        <p:spPr>
          <a:xfrm>
            <a:off x="777240" y="3520440"/>
            <a:ext cx="2194560" cy="1280160"/>
          </a:xfrm>
          <a:prstGeom prst="rect">
            <a:avLst/>
          </a:prstGeom>
          <a:noFill/>
          <a:ln/>
        </p:spPr>
        <p:txBody>
          <a:bodyPr wrap="square" rtlCol="0" anchor="ctr"/>
          <a:lstStyle/>
          <a:p>
            <a:pPr indent="0" marL="0">
              <a:lnSpc>
                <a:spcPts val="1500"/>
              </a:lnSpc>
              <a:buNone/>
            </a:pPr>
            <a:r>
              <a:rPr lang="en-US" sz="1150" dirty="0">
                <a:solidFill>
                  <a:srgbClr val="17262A"/>
                </a:solidFill>
                <a:latin typeface="Arial" pitchFamily="34" charset="0"/>
                <a:ea typeface="Arial" pitchFamily="34" charset="-122"/>
                <a:cs typeface="Arial" pitchFamily="34" charset="-120"/>
              </a:rPr>
              <a:t>Structured evaluation of task-level abilities.</a:t>
            </a:r>
            <a:endParaRPr lang="en-US" sz="1150" dirty="0"/>
          </a:p>
        </p:txBody>
      </p:sp>
      <p:sp>
        <p:nvSpPr>
          <p:cNvPr id="9" name="Shape 7"/>
          <p:cNvSpPr/>
          <p:nvPr/>
        </p:nvSpPr>
        <p:spPr>
          <a:xfrm>
            <a:off x="3337560" y="2286000"/>
            <a:ext cx="2606040" cy="2651760"/>
          </a:xfrm>
          <a:prstGeom prst="roundRect">
            <a:avLst>
              <a:gd name="adj" fmla="val 2807"/>
            </a:avLst>
          </a:prstGeom>
          <a:solidFill>
            <a:srgbClr val="EAFBFF"/>
          </a:solidFill>
          <a:ln/>
        </p:spPr>
      </p:sp>
      <p:sp>
        <p:nvSpPr>
          <p:cNvPr id="10" name="Text 8"/>
          <p:cNvSpPr/>
          <p:nvPr/>
        </p:nvSpPr>
        <p:spPr>
          <a:xfrm>
            <a:off x="3566160" y="2514600"/>
            <a:ext cx="548640" cy="548640"/>
          </a:xfrm>
          <a:prstGeom prst="rect">
            <a:avLst/>
          </a:prstGeom>
          <a:noFill/>
          <a:ln/>
        </p:spPr>
        <p:txBody>
          <a:bodyPr wrap="square" rtlCol="0" anchor="ctr"/>
          <a:lstStyle/>
          <a:p>
            <a:pPr indent="0" marL="0">
              <a:buNone/>
            </a:pPr>
            <a:r>
              <a:rPr lang="en-US" sz="2200" b="1" dirty="0">
                <a:solidFill>
                  <a:srgbClr val="0E7490"/>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3566160" y="3108960"/>
            <a:ext cx="219456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Practical</a:t>
            </a:r>
            <a:endParaRPr lang="en-US" sz="1500" dirty="0"/>
          </a:p>
        </p:txBody>
      </p:sp>
      <p:sp>
        <p:nvSpPr>
          <p:cNvPr id="12" name="Text 10"/>
          <p:cNvSpPr/>
          <p:nvPr/>
        </p:nvSpPr>
        <p:spPr>
          <a:xfrm>
            <a:off x="3566160" y="3520440"/>
            <a:ext cx="2194560" cy="1280160"/>
          </a:xfrm>
          <a:prstGeom prst="rect">
            <a:avLst/>
          </a:prstGeom>
          <a:noFill/>
          <a:ln/>
        </p:spPr>
        <p:txBody>
          <a:bodyPr wrap="square" rtlCol="0" anchor="ctr"/>
          <a:lstStyle/>
          <a:p>
            <a:pPr indent="0" marL="0">
              <a:lnSpc>
                <a:spcPts val="1500"/>
              </a:lnSpc>
              <a:buNone/>
            </a:pPr>
            <a:r>
              <a:rPr lang="en-US" sz="1150" dirty="0">
                <a:solidFill>
                  <a:srgbClr val="17262A"/>
                </a:solidFill>
                <a:latin typeface="Arial" pitchFamily="34" charset="0"/>
                <a:ea typeface="Arial" pitchFamily="34" charset="-122"/>
                <a:cs typeface="Arial" pitchFamily="34" charset="-120"/>
              </a:rPr>
              <a:t>Hands-on / applied skill assessment.</a:t>
            </a:r>
            <a:endParaRPr lang="en-US" sz="1150" dirty="0"/>
          </a:p>
        </p:txBody>
      </p:sp>
      <p:sp>
        <p:nvSpPr>
          <p:cNvPr id="13" name="Shape 11"/>
          <p:cNvSpPr/>
          <p:nvPr/>
        </p:nvSpPr>
        <p:spPr>
          <a:xfrm>
            <a:off x="6126480" y="2286000"/>
            <a:ext cx="2606040" cy="2651760"/>
          </a:xfrm>
          <a:prstGeom prst="roundRect">
            <a:avLst>
              <a:gd name="adj" fmla="val 2807"/>
            </a:avLst>
          </a:prstGeom>
          <a:solidFill>
            <a:srgbClr val="EAFBFF"/>
          </a:solidFill>
          <a:ln/>
        </p:spPr>
      </p:sp>
      <p:sp>
        <p:nvSpPr>
          <p:cNvPr id="14" name="Text 12"/>
          <p:cNvSpPr/>
          <p:nvPr/>
        </p:nvSpPr>
        <p:spPr>
          <a:xfrm>
            <a:off x="6355080" y="2514600"/>
            <a:ext cx="548640" cy="548640"/>
          </a:xfrm>
          <a:prstGeom prst="rect">
            <a:avLst/>
          </a:prstGeom>
          <a:noFill/>
          <a:ln/>
        </p:spPr>
        <p:txBody>
          <a:bodyPr wrap="square" rtlCol="0" anchor="ctr"/>
          <a:lstStyle/>
          <a:p>
            <a:pPr indent="0" marL="0">
              <a:buNone/>
            </a:pPr>
            <a:r>
              <a:rPr lang="en-US" sz="2200" b="1" dirty="0">
                <a:solidFill>
                  <a:srgbClr val="0E7490"/>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6355080" y="3108960"/>
            <a:ext cx="219456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Written</a:t>
            </a:r>
            <a:endParaRPr lang="en-US" sz="1500" dirty="0"/>
          </a:p>
        </p:txBody>
      </p:sp>
      <p:sp>
        <p:nvSpPr>
          <p:cNvPr id="16" name="Text 14"/>
          <p:cNvSpPr/>
          <p:nvPr/>
        </p:nvSpPr>
        <p:spPr>
          <a:xfrm>
            <a:off x="6355080" y="3520440"/>
            <a:ext cx="2194560" cy="1280160"/>
          </a:xfrm>
          <a:prstGeom prst="rect">
            <a:avLst/>
          </a:prstGeom>
          <a:noFill/>
          <a:ln/>
        </p:spPr>
        <p:txBody>
          <a:bodyPr wrap="square" rtlCol="0" anchor="ctr"/>
          <a:lstStyle/>
          <a:p>
            <a:pPr indent="0" marL="0">
              <a:lnSpc>
                <a:spcPts val="1500"/>
              </a:lnSpc>
              <a:buNone/>
            </a:pPr>
            <a:r>
              <a:rPr lang="en-US" sz="1150" dirty="0">
                <a:solidFill>
                  <a:srgbClr val="17262A"/>
                </a:solidFill>
                <a:latin typeface="Arial" pitchFamily="34" charset="0"/>
                <a:ea typeface="Arial" pitchFamily="34" charset="-122"/>
                <a:cs typeface="Arial" pitchFamily="34" charset="-120"/>
              </a:rPr>
              <a:t>Knowledge-based assessment.</a:t>
            </a:r>
            <a:endParaRPr lang="en-US" sz="1150" dirty="0"/>
          </a:p>
        </p:txBody>
      </p:sp>
      <p:sp>
        <p:nvSpPr>
          <p:cNvPr id="17" name="Shape 15"/>
          <p:cNvSpPr/>
          <p:nvPr/>
        </p:nvSpPr>
        <p:spPr>
          <a:xfrm>
            <a:off x="8915400" y="2286000"/>
            <a:ext cx="2606040" cy="2651760"/>
          </a:xfrm>
          <a:prstGeom prst="roundRect">
            <a:avLst>
              <a:gd name="adj" fmla="val 2807"/>
            </a:avLst>
          </a:prstGeom>
          <a:solidFill>
            <a:srgbClr val="FBE9DC"/>
          </a:solidFill>
          <a:ln/>
        </p:spPr>
      </p:sp>
      <p:sp>
        <p:nvSpPr>
          <p:cNvPr id="18" name="Text 16"/>
          <p:cNvSpPr/>
          <p:nvPr/>
        </p:nvSpPr>
        <p:spPr>
          <a:xfrm>
            <a:off x="9144000" y="2514600"/>
            <a:ext cx="548640" cy="548640"/>
          </a:xfrm>
          <a:prstGeom prst="rect">
            <a:avLst/>
          </a:prstGeom>
          <a:noFill/>
          <a:ln/>
        </p:spPr>
        <p:txBody>
          <a:bodyPr wrap="square" rtlCol="0" anchor="ctr"/>
          <a:lstStyle/>
          <a:p>
            <a:pPr indent="0" marL="0">
              <a:buNone/>
            </a:pPr>
            <a:r>
              <a:rPr lang="en-US" sz="2200" b="1" dirty="0">
                <a:solidFill>
                  <a:srgbClr val="D97B3F"/>
                </a:solidFill>
                <a:latin typeface="Arial" pitchFamily="34" charset="0"/>
                <a:ea typeface="Arial" pitchFamily="34" charset="-122"/>
                <a:cs typeface="Arial" pitchFamily="34" charset="-120"/>
              </a:rPr>
              <a:t>4</a:t>
            </a:r>
            <a:endParaRPr lang="en-US" sz="2200" dirty="0"/>
          </a:p>
        </p:txBody>
      </p:sp>
      <p:sp>
        <p:nvSpPr>
          <p:cNvPr id="19" name="Text 17"/>
          <p:cNvSpPr/>
          <p:nvPr/>
        </p:nvSpPr>
        <p:spPr>
          <a:xfrm>
            <a:off x="9144000" y="3108960"/>
            <a:ext cx="2194560" cy="365760"/>
          </a:xfrm>
          <a:prstGeom prst="rect">
            <a:avLst/>
          </a:prstGeom>
          <a:noFill/>
          <a:ln/>
        </p:spPr>
        <p:txBody>
          <a:bodyPr wrap="square" rtlCol="0" anchor="ctr"/>
          <a:lstStyle/>
          <a:p>
            <a:pPr indent="0" marL="0">
              <a:buNone/>
            </a:pPr>
            <a:r>
              <a:rPr lang="en-US" sz="1500" b="1" dirty="0">
                <a:solidFill>
                  <a:srgbClr val="0A0F10"/>
                </a:solidFill>
                <a:latin typeface="Arial" pitchFamily="34" charset="0"/>
                <a:ea typeface="Arial" pitchFamily="34" charset="-122"/>
                <a:cs typeface="Arial" pitchFamily="34" charset="-120"/>
              </a:rPr>
              <a:t>Oral</a:t>
            </a:r>
            <a:endParaRPr lang="en-US" sz="1500" dirty="0"/>
          </a:p>
        </p:txBody>
      </p:sp>
      <p:sp>
        <p:nvSpPr>
          <p:cNvPr id="20" name="Text 18"/>
          <p:cNvSpPr/>
          <p:nvPr/>
        </p:nvSpPr>
        <p:spPr>
          <a:xfrm>
            <a:off x="9144000" y="3520440"/>
            <a:ext cx="2194560" cy="1280160"/>
          </a:xfrm>
          <a:prstGeom prst="rect">
            <a:avLst/>
          </a:prstGeom>
          <a:noFill/>
          <a:ln/>
        </p:spPr>
        <p:txBody>
          <a:bodyPr wrap="square" rtlCol="0" anchor="ctr"/>
          <a:lstStyle/>
          <a:p>
            <a:pPr indent="0" marL="0">
              <a:lnSpc>
                <a:spcPts val="1500"/>
              </a:lnSpc>
              <a:buNone/>
            </a:pPr>
            <a:r>
              <a:rPr lang="en-US" sz="1150" dirty="0">
                <a:solidFill>
                  <a:srgbClr val="17262A"/>
                </a:solidFill>
                <a:latin typeface="Arial" pitchFamily="34" charset="0"/>
                <a:ea typeface="Arial" pitchFamily="34" charset="-122"/>
                <a:cs typeface="Arial" pitchFamily="34" charset="-120"/>
              </a:rPr>
              <a:t>Conversation-based assessment, conducted and scored by the evaluator.</a:t>
            </a:r>
            <a:endParaRPr lang="en-US" sz="1150" dirty="0"/>
          </a:p>
        </p:txBody>
      </p:sp>
      <p:sp>
        <p:nvSpPr>
          <p:cNvPr id="21" name="Text 19"/>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2" name="Text 2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8</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Automated Scoring &amp; Competency Evaluation</a:t>
            </a:r>
            <a:endParaRPr lang="en-US" sz="2700" dirty="0"/>
          </a:p>
        </p:txBody>
      </p:sp>
      <p:sp>
        <p:nvSpPr>
          <p:cNvPr id="4" name="Text 2"/>
          <p:cNvSpPr/>
          <p:nvPr/>
        </p:nvSpPr>
        <p:spPr>
          <a:xfrm>
            <a:off x="548640" y="1463040"/>
            <a:ext cx="11064240" cy="1097280"/>
          </a:xfrm>
          <a:prstGeom prst="rect">
            <a:avLst/>
          </a:prstGeom>
          <a:noFill/>
          <a:ln/>
        </p:spPr>
        <p:txBody>
          <a:bodyPr wrap="square" rtlCol="0" anchor="ctr"/>
          <a:lstStyle/>
          <a:p>
            <a:pPr indent="0" marL="0">
              <a:lnSpc>
                <a:spcPts val="2100"/>
              </a:lnSpc>
              <a:buNone/>
            </a:pPr>
            <a:r>
              <a:rPr lang="en-US" sz="1500" dirty="0">
                <a:solidFill>
                  <a:srgbClr val="17262A"/>
                </a:solidFill>
                <a:latin typeface="Arial" pitchFamily="34" charset="0"/>
                <a:ea typeface="Arial" pitchFamily="34" charset="-122"/>
                <a:cs typeface="Arial" pitchFamily="34" charset="-120"/>
              </a:rPr>
              <a:t>The system automatically calculates individual assessment scores, weighted scores, overall competency percentage, competency level and status, and training-required indicators — removing the manual roll-up currently done by hand.</a:t>
            </a:r>
            <a:endParaRPr lang="en-US" sz="1500" dirty="0"/>
          </a:p>
        </p:txBody>
      </p:sp>
      <p:sp>
        <p:nvSpPr>
          <p:cNvPr id="5" name="Shape 3"/>
          <p:cNvSpPr/>
          <p:nvPr/>
        </p:nvSpPr>
        <p:spPr>
          <a:xfrm>
            <a:off x="548640" y="2834640"/>
            <a:ext cx="2649474" cy="1005840"/>
          </a:xfrm>
          <a:prstGeom prst="roundRect">
            <a:avLst>
              <a:gd name="adj" fmla="val 5455"/>
            </a:avLst>
          </a:prstGeom>
          <a:solidFill>
            <a:srgbClr val="EAFBFF"/>
          </a:solidFill>
          <a:ln w="12700">
            <a:solidFill>
              <a:srgbClr val="1596B0"/>
            </a:solidFill>
            <a:prstDash val="solid"/>
          </a:ln>
        </p:spPr>
      </p:sp>
      <p:sp>
        <p:nvSpPr>
          <p:cNvPr id="6" name="Text 4"/>
          <p:cNvSpPr/>
          <p:nvPr/>
        </p:nvSpPr>
        <p:spPr>
          <a:xfrm>
            <a:off x="621792" y="2834640"/>
            <a:ext cx="2503170" cy="100584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Skill Mapping</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(Auto)</a:t>
            </a:r>
            <a:endParaRPr lang="en-US" sz="1250" dirty="0"/>
          </a:p>
        </p:txBody>
      </p:sp>
      <p:sp>
        <p:nvSpPr>
          <p:cNvPr id="7" name="Text 5"/>
          <p:cNvSpPr/>
          <p:nvPr/>
        </p:nvSpPr>
        <p:spPr>
          <a:xfrm>
            <a:off x="3198114" y="2834640"/>
            <a:ext cx="164592" cy="100584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3362706" y="2834640"/>
            <a:ext cx="2649474" cy="1005840"/>
          </a:xfrm>
          <a:prstGeom prst="roundRect">
            <a:avLst>
              <a:gd name="adj" fmla="val 5455"/>
            </a:avLst>
          </a:prstGeom>
          <a:solidFill>
            <a:srgbClr val="EAFBFF"/>
          </a:solidFill>
          <a:ln w="12700">
            <a:solidFill>
              <a:srgbClr val="1596B0"/>
            </a:solidFill>
            <a:prstDash val="solid"/>
          </a:ln>
        </p:spPr>
      </p:sp>
      <p:sp>
        <p:nvSpPr>
          <p:cNvPr id="9" name="Text 7"/>
          <p:cNvSpPr/>
          <p:nvPr/>
        </p:nvSpPr>
        <p:spPr>
          <a:xfrm>
            <a:off x="3435858" y="2834640"/>
            <a:ext cx="2503170" cy="100584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Practical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(Auto)</a:t>
            </a:r>
            <a:endParaRPr lang="en-US" sz="1250" dirty="0"/>
          </a:p>
        </p:txBody>
      </p:sp>
      <p:sp>
        <p:nvSpPr>
          <p:cNvPr id="10" name="Text 8"/>
          <p:cNvSpPr/>
          <p:nvPr/>
        </p:nvSpPr>
        <p:spPr>
          <a:xfrm>
            <a:off x="6012180" y="2834640"/>
            <a:ext cx="164592" cy="100584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6176772" y="2834640"/>
            <a:ext cx="2649474" cy="1005840"/>
          </a:xfrm>
          <a:prstGeom prst="roundRect">
            <a:avLst>
              <a:gd name="adj" fmla="val 5455"/>
            </a:avLst>
          </a:prstGeom>
          <a:solidFill>
            <a:srgbClr val="EAFBFF"/>
          </a:solidFill>
          <a:ln w="12700">
            <a:solidFill>
              <a:srgbClr val="1596B0"/>
            </a:solidFill>
            <a:prstDash val="solid"/>
          </a:ln>
        </p:spPr>
      </p:sp>
      <p:sp>
        <p:nvSpPr>
          <p:cNvPr id="12" name="Text 10"/>
          <p:cNvSpPr/>
          <p:nvPr/>
        </p:nvSpPr>
        <p:spPr>
          <a:xfrm>
            <a:off x="6249924" y="2834640"/>
            <a:ext cx="2503170" cy="100584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Written</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(Auto)</a:t>
            </a:r>
            <a:endParaRPr lang="en-US" sz="1250" dirty="0"/>
          </a:p>
        </p:txBody>
      </p:sp>
      <p:sp>
        <p:nvSpPr>
          <p:cNvPr id="13" name="Text 11"/>
          <p:cNvSpPr/>
          <p:nvPr/>
        </p:nvSpPr>
        <p:spPr>
          <a:xfrm>
            <a:off x="8826246" y="2834640"/>
            <a:ext cx="164592" cy="100584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8990838" y="2834640"/>
            <a:ext cx="2649474" cy="1005840"/>
          </a:xfrm>
          <a:prstGeom prst="roundRect">
            <a:avLst>
              <a:gd name="adj" fmla="val 5455"/>
            </a:avLst>
          </a:prstGeom>
          <a:solidFill>
            <a:srgbClr val="EAFBFF"/>
          </a:solidFill>
          <a:ln w="12700">
            <a:solidFill>
              <a:srgbClr val="1596B0"/>
            </a:solidFill>
            <a:prstDash val="solid"/>
          </a:ln>
        </p:spPr>
      </p:sp>
      <p:sp>
        <p:nvSpPr>
          <p:cNvPr id="15" name="Text 13"/>
          <p:cNvSpPr/>
          <p:nvPr/>
        </p:nvSpPr>
        <p:spPr>
          <a:xfrm>
            <a:off x="9063990" y="2834640"/>
            <a:ext cx="2503170" cy="100584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Oral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(Manual entry)</a:t>
            </a:r>
            <a:endParaRPr lang="en-US" sz="1250" dirty="0"/>
          </a:p>
        </p:txBody>
      </p:sp>
      <p:sp>
        <p:nvSpPr>
          <p:cNvPr id="16" name="Shape 14"/>
          <p:cNvSpPr/>
          <p:nvPr/>
        </p:nvSpPr>
        <p:spPr>
          <a:xfrm>
            <a:off x="548640" y="4297680"/>
            <a:ext cx="45720" cy="914400"/>
          </a:xfrm>
          <a:prstGeom prst="rect">
            <a:avLst/>
          </a:prstGeom>
          <a:solidFill>
            <a:srgbClr val="D97B3F"/>
          </a:solidFill>
          <a:ln/>
        </p:spPr>
      </p:sp>
      <p:sp>
        <p:nvSpPr>
          <p:cNvPr id="17" name="Text 15"/>
          <p:cNvSpPr/>
          <p:nvPr/>
        </p:nvSpPr>
        <p:spPr>
          <a:xfrm>
            <a:off x="749808" y="4297680"/>
            <a:ext cx="10863072" cy="914400"/>
          </a:xfrm>
          <a:prstGeom prst="rect">
            <a:avLst/>
          </a:prstGeom>
          <a:noFill/>
          <a:ln/>
        </p:spPr>
        <p:txBody>
          <a:bodyPr wrap="square" rtlCol="0" anchor="t"/>
          <a:lstStyle/>
          <a:p>
            <a:pPr indent="0" marL="0">
              <a:lnSpc>
                <a:spcPts val="1500"/>
              </a:lnSpc>
              <a:buNone/>
            </a:pPr>
            <a:r>
              <a:rPr lang="en-US" sz="1200" i="1" dirty="0">
                <a:solidFill>
                  <a:srgbClr val="5B6B72"/>
                </a:solidFill>
                <a:latin typeface="Arial" pitchFamily="34" charset="0"/>
                <a:ea typeface="Arial" pitchFamily="34" charset="-122"/>
                <a:cs typeface="Arial" pitchFamily="34" charset="-120"/>
              </a:rPr>
              <a:t>Automated scoring applies to Skill Mapping, Practical, and Written. The Oral assessment remains manually scored by the evaluator, since it's a live conversation — its score is entered and included in the same automated roll-up as the other three.</a:t>
            </a:r>
            <a:endParaRPr lang="en-US" sz="1200" dirty="0"/>
          </a:p>
        </p:txBody>
      </p:sp>
      <p:sp>
        <p:nvSpPr>
          <p:cNvPr id="18" name="Text 16"/>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19" name="Text 17"/>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0"/>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8BE3FD"/>
                </a:solidFill>
                <a:latin typeface="Arial" pitchFamily="34" charset="0"/>
                <a:ea typeface="Arial" pitchFamily="34" charset="-122"/>
                <a:cs typeface="Arial" pitchFamily="34" charset="-120"/>
              </a:rPr>
              <a:t>SECTION 9</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AI-Powered Gap Analysis</a:t>
            </a:r>
            <a:endParaRPr lang="en-US" sz="2700" dirty="0"/>
          </a:p>
        </p:txBody>
      </p:sp>
      <p:sp>
        <p:nvSpPr>
          <p:cNvPr id="4" name="Text 2"/>
          <p:cNvSpPr/>
          <p:nvPr/>
        </p:nvSpPr>
        <p:spPr>
          <a:xfrm>
            <a:off x="548640" y="1417320"/>
            <a:ext cx="11064240" cy="914400"/>
          </a:xfrm>
          <a:prstGeom prst="rect">
            <a:avLst/>
          </a:prstGeom>
          <a:noFill/>
          <a:ln/>
        </p:spPr>
        <p:txBody>
          <a:bodyPr wrap="square" rtlCol="0" anchor="ctr"/>
          <a:lstStyle/>
          <a:p>
            <a:pPr indent="0" marL="0">
              <a:lnSpc>
                <a:spcPts val="1900"/>
              </a:lnSpc>
              <a:buNone/>
            </a:pPr>
            <a:r>
              <a:rPr lang="en-US" sz="1400" dirty="0">
                <a:solidFill>
                  <a:srgbClr val="D6E8EA"/>
                </a:solidFill>
                <a:latin typeface="Arial" pitchFamily="34" charset="0"/>
                <a:ea typeface="Arial" pitchFamily="34" charset="-122"/>
                <a:cs typeface="Arial" pitchFamily="34" charset="-120"/>
              </a:rPr>
              <a:t>Beyond fixed threshold rules, AI reads assessment patterns across an employee's competency areas to identify meaningful gaps — for example, distinguishing strong written knowledge from weaker practical troubleshooting ability.</a:t>
            </a:r>
            <a:endParaRPr lang="en-US" sz="1400" dirty="0"/>
          </a:p>
        </p:txBody>
      </p:sp>
      <p:sp>
        <p:nvSpPr>
          <p:cNvPr id="5" name="Shape 3"/>
          <p:cNvSpPr/>
          <p:nvPr/>
        </p:nvSpPr>
        <p:spPr>
          <a:xfrm>
            <a:off x="548640" y="2743200"/>
            <a:ext cx="2663190" cy="1097280"/>
          </a:xfrm>
          <a:prstGeom prst="roundRect">
            <a:avLst>
              <a:gd name="adj" fmla="val 5833"/>
            </a:avLst>
          </a:prstGeom>
          <a:solidFill>
            <a:srgbClr val="16282C"/>
          </a:solidFill>
          <a:ln w="9525">
            <a:solidFill>
              <a:srgbClr val="1596B0"/>
            </a:solidFill>
            <a:prstDash val="solid"/>
          </a:ln>
        </p:spPr>
      </p:sp>
      <p:sp>
        <p:nvSpPr>
          <p:cNvPr id="6" name="Text 4"/>
          <p:cNvSpPr/>
          <p:nvPr/>
        </p:nvSpPr>
        <p:spPr>
          <a:xfrm>
            <a:off x="640080" y="2743200"/>
            <a:ext cx="2480310" cy="109728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Arial" pitchFamily="34" charset="0"/>
                <a:ea typeface="Arial" pitchFamily="34" charset="-122"/>
                <a:cs typeface="Arial" pitchFamily="34" charset="-120"/>
              </a:rPr>
              <a:t>Assessment</a:t>
            </a:r>
            <a:endParaRPr lang="en-US" sz="1250" dirty="0"/>
          </a:p>
          <a:p>
            <a:pPr algn="ctr" indent="0" marL="0">
              <a:lnSpc>
                <a:spcPts val="1500"/>
              </a:lnSpc>
              <a:buNone/>
            </a:pPr>
            <a:r>
              <a:rPr lang="en-US" sz="1250" b="1" dirty="0">
                <a:solidFill>
                  <a:srgbClr val="FFFFFF"/>
                </a:solidFill>
                <a:latin typeface="Arial" pitchFamily="34" charset="0"/>
                <a:ea typeface="Arial" pitchFamily="34" charset="-122"/>
                <a:cs typeface="Arial" pitchFamily="34" charset="-120"/>
              </a:rPr>
              <a:t>Results</a:t>
            </a:r>
            <a:endParaRPr lang="en-US" sz="1250" dirty="0"/>
          </a:p>
        </p:txBody>
      </p:sp>
      <p:sp>
        <p:nvSpPr>
          <p:cNvPr id="7" name="Text 5"/>
          <p:cNvSpPr/>
          <p:nvPr/>
        </p:nvSpPr>
        <p:spPr>
          <a:xfrm>
            <a:off x="3211830" y="2743200"/>
            <a:ext cx="137160" cy="1097280"/>
          </a:xfrm>
          <a:prstGeom prst="rect">
            <a:avLst/>
          </a:prstGeom>
          <a:noFill/>
          <a:ln/>
        </p:spPr>
        <p:txBody>
          <a:bodyPr wrap="square" rtlCol="0" anchor="ctr"/>
          <a:lstStyle/>
          <a:p>
            <a:pPr algn="ctr" indent="0" marL="0">
              <a:buNone/>
            </a:pPr>
            <a:r>
              <a:rPr lang="en-US" sz="1600" dirty="0">
                <a:solidFill>
                  <a:srgbClr val="8BE3FD"/>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3348990" y="2743200"/>
            <a:ext cx="2663190" cy="1097280"/>
          </a:xfrm>
          <a:prstGeom prst="roundRect">
            <a:avLst>
              <a:gd name="adj" fmla="val 5833"/>
            </a:avLst>
          </a:prstGeom>
          <a:solidFill>
            <a:srgbClr val="16282C"/>
          </a:solidFill>
          <a:ln w="9525">
            <a:solidFill>
              <a:srgbClr val="1596B0"/>
            </a:solidFill>
            <a:prstDash val="solid"/>
          </a:ln>
        </p:spPr>
      </p:sp>
      <p:sp>
        <p:nvSpPr>
          <p:cNvPr id="9" name="Text 7"/>
          <p:cNvSpPr/>
          <p:nvPr/>
        </p:nvSpPr>
        <p:spPr>
          <a:xfrm>
            <a:off x="3440430" y="2743200"/>
            <a:ext cx="2480310" cy="109728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Arial" pitchFamily="34" charset="0"/>
                <a:ea typeface="Arial" pitchFamily="34" charset="-122"/>
                <a:cs typeface="Arial" pitchFamily="34" charset="-120"/>
              </a:rPr>
              <a:t>AI Pattern Analysis</a:t>
            </a:r>
            <a:endParaRPr lang="en-US" sz="1250" dirty="0"/>
          </a:p>
          <a:p>
            <a:pPr algn="ctr" indent="0" marL="0">
              <a:lnSpc>
                <a:spcPts val="1500"/>
              </a:lnSpc>
              <a:buNone/>
            </a:pPr>
            <a:r>
              <a:rPr lang="en-US" sz="1250" b="1" dirty="0">
                <a:solidFill>
                  <a:srgbClr val="FFFFFF"/>
                </a:solidFill>
                <a:latin typeface="Arial" pitchFamily="34" charset="0"/>
                <a:ea typeface="Arial" pitchFamily="34" charset="-122"/>
                <a:cs typeface="Arial" pitchFamily="34" charset="-120"/>
              </a:rPr>
              <a:t>Across Competency Areas</a:t>
            </a:r>
            <a:endParaRPr lang="en-US" sz="1250" dirty="0"/>
          </a:p>
        </p:txBody>
      </p:sp>
      <p:sp>
        <p:nvSpPr>
          <p:cNvPr id="10" name="Text 8"/>
          <p:cNvSpPr/>
          <p:nvPr/>
        </p:nvSpPr>
        <p:spPr>
          <a:xfrm>
            <a:off x="6012180" y="2743200"/>
            <a:ext cx="137160" cy="1097280"/>
          </a:xfrm>
          <a:prstGeom prst="rect">
            <a:avLst/>
          </a:prstGeom>
          <a:noFill/>
          <a:ln/>
        </p:spPr>
        <p:txBody>
          <a:bodyPr wrap="square" rtlCol="0" anchor="ctr"/>
          <a:lstStyle/>
          <a:p>
            <a:pPr algn="ctr" indent="0" marL="0">
              <a:buNone/>
            </a:pPr>
            <a:r>
              <a:rPr lang="en-US" sz="1600" dirty="0">
                <a:solidFill>
                  <a:srgbClr val="8BE3FD"/>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6149340" y="2743200"/>
            <a:ext cx="2663190" cy="1097280"/>
          </a:xfrm>
          <a:prstGeom prst="roundRect">
            <a:avLst>
              <a:gd name="adj" fmla="val 5833"/>
            </a:avLst>
          </a:prstGeom>
          <a:solidFill>
            <a:srgbClr val="16282C"/>
          </a:solidFill>
          <a:ln w="9525">
            <a:solidFill>
              <a:srgbClr val="1596B0"/>
            </a:solidFill>
            <a:prstDash val="solid"/>
          </a:ln>
        </p:spPr>
      </p:sp>
      <p:sp>
        <p:nvSpPr>
          <p:cNvPr id="12" name="Text 10"/>
          <p:cNvSpPr/>
          <p:nvPr/>
        </p:nvSpPr>
        <p:spPr>
          <a:xfrm>
            <a:off x="6240780" y="2743200"/>
            <a:ext cx="2480310" cy="109728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Arial" pitchFamily="34" charset="0"/>
                <a:ea typeface="Arial" pitchFamily="34" charset="-122"/>
                <a:cs typeface="Arial" pitchFamily="34" charset="-120"/>
              </a:rPr>
              <a:t>Identified</a:t>
            </a:r>
            <a:endParaRPr lang="en-US" sz="1250" dirty="0"/>
          </a:p>
          <a:p>
            <a:pPr algn="ctr" indent="0" marL="0">
              <a:lnSpc>
                <a:spcPts val="1500"/>
              </a:lnSpc>
              <a:buNone/>
            </a:pPr>
            <a:r>
              <a:rPr lang="en-US" sz="1250" b="1" dirty="0">
                <a:solidFill>
                  <a:srgbClr val="FFFFFF"/>
                </a:solidFill>
                <a:latin typeface="Arial" pitchFamily="34" charset="0"/>
                <a:ea typeface="Arial" pitchFamily="34" charset="-122"/>
                <a:cs typeface="Arial" pitchFamily="34" charset="-120"/>
              </a:rPr>
              <a:t>Competency Gaps</a:t>
            </a:r>
            <a:endParaRPr lang="en-US" sz="1250" dirty="0"/>
          </a:p>
        </p:txBody>
      </p:sp>
      <p:sp>
        <p:nvSpPr>
          <p:cNvPr id="13" name="Text 11"/>
          <p:cNvSpPr/>
          <p:nvPr/>
        </p:nvSpPr>
        <p:spPr>
          <a:xfrm>
            <a:off x="8812530" y="2743200"/>
            <a:ext cx="137160" cy="1097280"/>
          </a:xfrm>
          <a:prstGeom prst="rect">
            <a:avLst/>
          </a:prstGeom>
          <a:noFill/>
          <a:ln/>
        </p:spPr>
        <p:txBody>
          <a:bodyPr wrap="square" rtlCol="0" anchor="ctr"/>
          <a:lstStyle/>
          <a:p>
            <a:pPr algn="ctr" indent="0" marL="0">
              <a:buNone/>
            </a:pPr>
            <a:r>
              <a:rPr lang="en-US" sz="1600" dirty="0">
                <a:solidFill>
                  <a:srgbClr val="8BE3FD"/>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8949690" y="2743200"/>
            <a:ext cx="2663190" cy="1097280"/>
          </a:xfrm>
          <a:prstGeom prst="roundRect">
            <a:avLst>
              <a:gd name="adj" fmla="val 5833"/>
            </a:avLst>
          </a:prstGeom>
          <a:solidFill>
            <a:srgbClr val="8BE3FD"/>
          </a:solidFill>
          <a:ln w="12700">
            <a:solidFill>
              <a:srgbClr val="1596B0"/>
            </a:solidFill>
            <a:prstDash val="solid"/>
          </a:ln>
        </p:spPr>
      </p:sp>
      <p:sp>
        <p:nvSpPr>
          <p:cNvPr id="15" name="Text 13"/>
          <p:cNvSpPr/>
          <p:nvPr/>
        </p:nvSpPr>
        <p:spPr>
          <a:xfrm>
            <a:off x="9041130" y="2743200"/>
            <a:ext cx="2480310" cy="109728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Personalized Training</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Recommendations</a:t>
            </a:r>
            <a:endParaRPr lang="en-US" sz="1250" dirty="0"/>
          </a:p>
        </p:txBody>
      </p:sp>
      <p:sp>
        <p:nvSpPr>
          <p:cNvPr id="16" name="Text 14"/>
          <p:cNvSpPr/>
          <p:nvPr/>
        </p:nvSpPr>
        <p:spPr>
          <a:xfrm>
            <a:off x="548640" y="4206240"/>
            <a:ext cx="11064240" cy="548640"/>
          </a:xfrm>
          <a:prstGeom prst="rect">
            <a:avLst/>
          </a:prstGeom>
          <a:noFill/>
          <a:ln/>
        </p:spPr>
        <p:txBody>
          <a:bodyPr wrap="square" rtlCol="0" anchor="ctr"/>
          <a:lstStyle/>
          <a:p>
            <a:pPr indent="0" marL="0">
              <a:buNone/>
            </a:pPr>
            <a:r>
              <a:rPr lang="en-US" sz="1250" i="1" dirty="0">
                <a:solidFill>
                  <a:srgbClr val="9FC3C7"/>
                </a:solidFill>
                <a:latin typeface="Arial" pitchFamily="34" charset="0"/>
                <a:ea typeface="Arial" pitchFamily="34" charset="-122"/>
                <a:cs typeface="Arial" pitchFamily="34" charset="-120"/>
              </a:rPr>
              <a:t>This connects assessment results directly to specific competency gaps, and from there to the training required to close them.</a:t>
            </a:r>
            <a:endParaRPr lang="en-US" sz="1250" dirty="0"/>
          </a:p>
        </p:txBody>
      </p:sp>
      <p:sp>
        <p:nvSpPr>
          <p:cNvPr id="17" name="Text 15"/>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18" name="Text 1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10</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Personalized Training Recommendations &amp; Predictive Insights</a:t>
            </a:r>
            <a:endParaRPr lang="en-US" sz="2700" dirty="0"/>
          </a:p>
        </p:txBody>
      </p:sp>
      <p:sp>
        <p:nvSpPr>
          <p:cNvPr id="4" name="Shape 2"/>
          <p:cNvSpPr/>
          <p:nvPr/>
        </p:nvSpPr>
        <p:spPr>
          <a:xfrm>
            <a:off x="548640" y="1600200"/>
            <a:ext cx="5394960" cy="2880360"/>
          </a:xfrm>
          <a:prstGeom prst="roundRect">
            <a:avLst>
              <a:gd name="adj" fmla="val 2540"/>
            </a:avLst>
          </a:prstGeom>
          <a:solidFill>
            <a:srgbClr val="EAFBFF"/>
          </a:solidFill>
          <a:ln/>
        </p:spPr>
      </p:sp>
      <p:sp>
        <p:nvSpPr>
          <p:cNvPr id="5" name="Text 3"/>
          <p:cNvSpPr/>
          <p:nvPr/>
        </p:nvSpPr>
        <p:spPr>
          <a:xfrm>
            <a:off x="822960" y="1828800"/>
            <a:ext cx="4846320" cy="685800"/>
          </a:xfrm>
          <a:prstGeom prst="rect">
            <a:avLst/>
          </a:prstGeom>
          <a:noFill/>
          <a:ln/>
        </p:spPr>
        <p:txBody>
          <a:bodyPr wrap="square" rtlCol="0" anchor="ctr"/>
          <a:lstStyle/>
          <a:p>
            <a:pPr indent="0" marL="0">
              <a:lnSpc>
                <a:spcPts val="1800"/>
              </a:lnSpc>
              <a:buNone/>
            </a:pPr>
            <a:r>
              <a:rPr lang="en-US" sz="1550" b="1" dirty="0">
                <a:solidFill>
                  <a:srgbClr val="0A0F10"/>
                </a:solidFill>
                <a:latin typeface="Arial" pitchFamily="34" charset="0"/>
                <a:ea typeface="Arial" pitchFamily="34" charset="-122"/>
                <a:cs typeface="Arial" pitchFamily="34" charset="-120"/>
              </a:rPr>
              <a:t>Personalized Training Recommendations</a:t>
            </a:r>
            <a:endParaRPr lang="en-US" sz="1550" dirty="0"/>
          </a:p>
        </p:txBody>
      </p:sp>
      <p:sp>
        <p:nvSpPr>
          <p:cNvPr id="6" name="Text 4"/>
          <p:cNvSpPr/>
          <p:nvPr/>
        </p:nvSpPr>
        <p:spPr>
          <a:xfrm>
            <a:off x="822960" y="2606040"/>
            <a:ext cx="4846320" cy="1737360"/>
          </a:xfrm>
          <a:prstGeom prst="rect">
            <a:avLst/>
          </a:prstGeom>
          <a:noFill/>
          <a:ln/>
        </p:spPr>
        <p:txBody>
          <a:bodyPr wrap="square" rtlCol="0" anchor="ctr"/>
          <a:lstStyle/>
          <a:p>
            <a:pPr indent="0" marL="0">
              <a:lnSpc>
                <a:spcPts val="1600"/>
              </a:lnSpc>
              <a:buNone/>
            </a:pPr>
            <a:r>
              <a:rPr lang="en-US" sz="1200" dirty="0">
                <a:solidFill>
                  <a:srgbClr val="17262A"/>
                </a:solidFill>
                <a:latin typeface="Arial" pitchFamily="34" charset="0"/>
                <a:ea typeface="Arial" pitchFamily="34" charset="-122"/>
                <a:cs typeface="Arial" pitchFamily="34" charset="-120"/>
              </a:rPr>
              <a:t>Based on each employee's identified gaps, the system recommends the specific training modules most relevant to them — rather than assigning the same generic training to everyone in a job category.</a:t>
            </a:r>
            <a:endParaRPr lang="en-US" sz="1200" dirty="0"/>
          </a:p>
        </p:txBody>
      </p:sp>
      <p:sp>
        <p:nvSpPr>
          <p:cNvPr id="7" name="Shape 5"/>
          <p:cNvSpPr/>
          <p:nvPr/>
        </p:nvSpPr>
        <p:spPr>
          <a:xfrm>
            <a:off x="6172200" y="1600200"/>
            <a:ext cx="5394960" cy="2880360"/>
          </a:xfrm>
          <a:prstGeom prst="roundRect">
            <a:avLst>
              <a:gd name="adj" fmla="val 2540"/>
            </a:avLst>
          </a:prstGeom>
          <a:solidFill>
            <a:srgbClr val="EAFBFF"/>
          </a:solidFill>
          <a:ln/>
        </p:spPr>
      </p:sp>
      <p:sp>
        <p:nvSpPr>
          <p:cNvPr id="8" name="Text 6"/>
          <p:cNvSpPr/>
          <p:nvPr/>
        </p:nvSpPr>
        <p:spPr>
          <a:xfrm>
            <a:off x="6446520" y="1828800"/>
            <a:ext cx="4846320" cy="685800"/>
          </a:xfrm>
          <a:prstGeom prst="rect">
            <a:avLst/>
          </a:prstGeom>
          <a:noFill/>
          <a:ln/>
        </p:spPr>
        <p:txBody>
          <a:bodyPr wrap="square" rtlCol="0" anchor="ctr"/>
          <a:lstStyle/>
          <a:p>
            <a:pPr indent="0" marL="0">
              <a:lnSpc>
                <a:spcPts val="1800"/>
              </a:lnSpc>
              <a:buNone/>
            </a:pPr>
            <a:r>
              <a:rPr lang="en-US" sz="1550" b="1" dirty="0">
                <a:solidFill>
                  <a:srgbClr val="0A0F10"/>
                </a:solidFill>
                <a:latin typeface="Arial" pitchFamily="34" charset="0"/>
                <a:ea typeface="Arial" pitchFamily="34" charset="-122"/>
                <a:cs typeface="Arial" pitchFamily="34" charset="-120"/>
              </a:rPr>
              <a:t>Predictive Competency / Risk Insights</a:t>
            </a:r>
            <a:endParaRPr lang="en-US" sz="1550" dirty="0"/>
          </a:p>
        </p:txBody>
      </p:sp>
      <p:sp>
        <p:nvSpPr>
          <p:cNvPr id="9" name="Text 7"/>
          <p:cNvSpPr/>
          <p:nvPr/>
        </p:nvSpPr>
        <p:spPr>
          <a:xfrm>
            <a:off x="6446520" y="2606040"/>
            <a:ext cx="4846320" cy="1737360"/>
          </a:xfrm>
          <a:prstGeom prst="rect">
            <a:avLst/>
          </a:prstGeom>
          <a:noFill/>
          <a:ln/>
        </p:spPr>
        <p:txBody>
          <a:bodyPr wrap="square" rtlCol="0" anchor="ctr"/>
          <a:lstStyle/>
          <a:p>
            <a:pPr indent="0" marL="0">
              <a:lnSpc>
                <a:spcPts val="1600"/>
              </a:lnSpc>
              <a:buNone/>
            </a:pPr>
            <a:r>
              <a:rPr lang="en-US" sz="1200" dirty="0">
                <a:solidFill>
                  <a:srgbClr val="17262A"/>
                </a:solidFill>
                <a:latin typeface="Arial" pitchFamily="34" charset="0"/>
                <a:ea typeface="Arial" pitchFamily="34" charset="-122"/>
                <a:cs typeface="Arial" pitchFamily="34" charset="-120"/>
              </a:rPr>
              <a:t>As assessment and training data accumulates, the system helps identify employees, competencies, or sites that may need additional attention before they become a problem — e.g. a site trending toward lower scores ahead of an audit.</a:t>
            </a:r>
            <a:endParaRPr lang="en-US" sz="1200" dirty="0"/>
          </a:p>
        </p:txBody>
      </p:sp>
      <p:sp>
        <p:nvSpPr>
          <p:cNvPr id="10" name="Shape 8"/>
          <p:cNvSpPr/>
          <p:nvPr/>
        </p:nvSpPr>
        <p:spPr>
          <a:xfrm>
            <a:off x="548640" y="4754880"/>
            <a:ext cx="45720" cy="914400"/>
          </a:xfrm>
          <a:prstGeom prst="rect">
            <a:avLst/>
          </a:prstGeom>
          <a:solidFill>
            <a:srgbClr val="D97B3F"/>
          </a:solidFill>
          <a:ln/>
        </p:spPr>
      </p:sp>
      <p:sp>
        <p:nvSpPr>
          <p:cNvPr id="11" name="Text 9"/>
          <p:cNvSpPr/>
          <p:nvPr/>
        </p:nvSpPr>
        <p:spPr>
          <a:xfrm>
            <a:off x="749808" y="4754880"/>
            <a:ext cx="10863072" cy="914400"/>
          </a:xfrm>
          <a:prstGeom prst="rect">
            <a:avLst/>
          </a:prstGeom>
          <a:noFill/>
          <a:ln/>
        </p:spPr>
        <p:txBody>
          <a:bodyPr wrap="square" rtlCol="0" anchor="t"/>
          <a:lstStyle/>
          <a:p>
            <a:pPr indent="0" marL="0">
              <a:lnSpc>
                <a:spcPts val="1500"/>
              </a:lnSpc>
              <a:buNone/>
            </a:pPr>
            <a:r>
              <a:rPr lang="en-US" sz="1200" i="1" dirty="0">
                <a:solidFill>
                  <a:srgbClr val="5B6B72"/>
                </a:solidFill>
                <a:latin typeface="Arial" pitchFamily="34" charset="0"/>
                <a:ea typeface="Arial" pitchFamily="34" charset="-122"/>
                <a:cs typeface="Arial" pitchFamily="34" charset="-120"/>
              </a:rPr>
              <a:t>Predictive capability is not expected to be fully mature from day one — its accuracy and usefulness grow as NEIPL's historical data accumulates within the system. We'll scope realistic expectations for this together during discovery.</a:t>
            </a:r>
            <a:endParaRPr lang="en-US" sz="1200" dirty="0"/>
          </a:p>
        </p:txBody>
      </p:sp>
      <p:sp>
        <p:nvSpPr>
          <p:cNvPr id="12" name="Text 10"/>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13" name="Text 1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11</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Training Management</a:t>
            </a:r>
            <a:endParaRPr lang="en-US" sz="27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450" dirty="0">
                <a:solidFill>
                  <a:srgbClr val="17262A"/>
                </a:solidFill>
                <a:latin typeface="Arial" pitchFamily="34" charset="0"/>
                <a:ea typeface="Arial" pitchFamily="34" charset="-122"/>
                <a:cs typeface="Arial" pitchFamily="34" charset="-120"/>
              </a:rPr>
              <a:t>The platform manages the complete training lifecycle that follows a gap analysis:</a:t>
            </a:r>
            <a:endParaRPr lang="en-US" sz="1450" dirty="0"/>
          </a:p>
        </p:txBody>
      </p:sp>
      <p:sp>
        <p:nvSpPr>
          <p:cNvPr id="5" name="Text 3"/>
          <p:cNvSpPr/>
          <p:nvPr/>
        </p:nvSpPr>
        <p:spPr>
          <a:xfrm>
            <a:off x="548640" y="2103120"/>
            <a:ext cx="5394960" cy="4114800"/>
          </a:xfrm>
          <a:prstGeom prst="rect">
            <a:avLst/>
          </a:prstGeom>
          <a:noFill/>
          <a:ln/>
        </p:spPr>
        <p:txBody>
          <a:bodyPr wrap="square" rtlCol="0" anchor="t"/>
          <a:lstStyle/>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Training requirement identification</a:t>
            </a:r>
            <a:endParaRPr lang="en-US" sz="1400" dirty="0"/>
          </a:p>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Training assignment &amp; employee enrollment</a:t>
            </a:r>
            <a:endParaRPr lang="en-US" sz="1400" dirty="0"/>
          </a:p>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Training calendar, monthly / yearly planning</a:t>
            </a:r>
            <a:endParaRPr lang="en-US" sz="1400" dirty="0"/>
          </a:p>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Trainer assignment and scheduling</a:t>
            </a:r>
            <a:endParaRPr lang="en-US" sz="1400" dirty="0"/>
          </a:p>
        </p:txBody>
      </p:sp>
      <p:sp>
        <p:nvSpPr>
          <p:cNvPr id="6" name="Text 4"/>
          <p:cNvSpPr/>
          <p:nvPr/>
        </p:nvSpPr>
        <p:spPr>
          <a:xfrm>
            <a:off x="6126480" y="2103120"/>
            <a:ext cx="5394960" cy="4114800"/>
          </a:xfrm>
          <a:prstGeom prst="rect">
            <a:avLst/>
          </a:prstGeom>
          <a:noFill/>
          <a:ln/>
        </p:spPr>
        <p:txBody>
          <a:bodyPr wrap="square" rtlCol="0" anchor="t"/>
          <a:lstStyle/>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Reminders</a:t>
            </a:r>
            <a:endParaRPr lang="en-US" sz="1400" dirty="0"/>
          </a:p>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Attendance &amp; completion tracking</a:t>
            </a:r>
            <a:endParaRPr lang="en-US" sz="1400" dirty="0"/>
          </a:p>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Training history</a:t>
            </a:r>
            <a:endParaRPr lang="en-US" sz="1400" dirty="0"/>
          </a:p>
          <a:p>
            <a:pPr marL="228600" indent="-228600">
              <a:lnSpc>
                <a:spcPts val="1800"/>
              </a:lnSpc>
              <a:spcAft>
                <a:spcPts val="1400"/>
              </a:spcAft>
              <a:buSzPct val="100000"/>
              <a:buChar char="•"/>
            </a:pPr>
            <a:r>
              <a:rPr lang="en-US" sz="1400" dirty="0">
                <a:solidFill>
                  <a:srgbClr val="17262A"/>
                </a:solidFill>
                <a:latin typeface="Arial" pitchFamily="34" charset="0"/>
                <a:ea typeface="Arial" pitchFamily="34" charset="-122"/>
                <a:cs typeface="Arial" pitchFamily="34" charset="-120"/>
              </a:rPr>
              <a:t>Post-training evaluation and reassessment</a:t>
            </a:r>
            <a:endParaRPr lang="en-US" sz="1400" dirty="0"/>
          </a:p>
        </p:txBody>
      </p:sp>
      <p:sp>
        <p:nvSpPr>
          <p:cNvPr id="7" name="Text 5"/>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12</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Video Meeting &amp; Online Training</a:t>
            </a:r>
            <a:endParaRPr lang="en-US" sz="27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450" dirty="0">
                <a:solidFill>
                  <a:srgbClr val="17262A"/>
                </a:solidFill>
                <a:latin typeface="Arial" pitchFamily="34" charset="0"/>
                <a:ea typeface="Arial" pitchFamily="34" charset="-122"/>
                <a:cs typeface="Arial" pitchFamily="34" charset="-120"/>
              </a:rPr>
              <a:t>Online sessions are part of the training workflow itself — not a separate, disconnected feature.</a:t>
            </a:r>
            <a:endParaRPr lang="en-US" sz="1450" dirty="0"/>
          </a:p>
        </p:txBody>
      </p:sp>
      <p:sp>
        <p:nvSpPr>
          <p:cNvPr id="5" name="Shape 3"/>
          <p:cNvSpPr/>
          <p:nvPr/>
        </p:nvSpPr>
        <p:spPr>
          <a:xfrm>
            <a:off x="548640" y="2148840"/>
            <a:ext cx="2649474" cy="960120"/>
          </a:xfrm>
          <a:prstGeom prst="roundRect">
            <a:avLst>
              <a:gd name="adj" fmla="val 5714"/>
            </a:avLst>
          </a:prstGeom>
          <a:solidFill>
            <a:srgbClr val="EAFBFF"/>
          </a:solidFill>
          <a:ln w="12700">
            <a:solidFill>
              <a:srgbClr val="1596B0"/>
            </a:solidFill>
            <a:prstDash val="solid"/>
          </a:ln>
        </p:spPr>
      </p:sp>
      <p:sp>
        <p:nvSpPr>
          <p:cNvPr id="6" name="Text 4"/>
          <p:cNvSpPr/>
          <p:nvPr/>
        </p:nvSpPr>
        <p:spPr>
          <a:xfrm>
            <a:off x="621792" y="21488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Create Training</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Session</a:t>
            </a:r>
            <a:endParaRPr lang="en-US" sz="1250" dirty="0"/>
          </a:p>
        </p:txBody>
      </p:sp>
      <p:sp>
        <p:nvSpPr>
          <p:cNvPr id="7" name="Text 5"/>
          <p:cNvSpPr/>
          <p:nvPr/>
        </p:nvSpPr>
        <p:spPr>
          <a:xfrm>
            <a:off x="3198114" y="2148840"/>
            <a:ext cx="164592" cy="96012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3362706" y="2148840"/>
            <a:ext cx="2649474" cy="960120"/>
          </a:xfrm>
          <a:prstGeom prst="roundRect">
            <a:avLst>
              <a:gd name="adj" fmla="val 5714"/>
            </a:avLst>
          </a:prstGeom>
          <a:solidFill>
            <a:srgbClr val="EAFBFF"/>
          </a:solidFill>
          <a:ln w="12700">
            <a:solidFill>
              <a:srgbClr val="1596B0"/>
            </a:solidFill>
            <a:prstDash val="solid"/>
          </a:ln>
        </p:spPr>
      </p:sp>
      <p:sp>
        <p:nvSpPr>
          <p:cNvPr id="9" name="Text 7"/>
          <p:cNvSpPr/>
          <p:nvPr/>
        </p:nvSpPr>
        <p:spPr>
          <a:xfrm>
            <a:off x="3435858" y="21488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Schedule Date</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&amp; Time</a:t>
            </a:r>
            <a:endParaRPr lang="en-US" sz="1250" dirty="0"/>
          </a:p>
        </p:txBody>
      </p:sp>
      <p:sp>
        <p:nvSpPr>
          <p:cNvPr id="10" name="Text 8"/>
          <p:cNvSpPr/>
          <p:nvPr/>
        </p:nvSpPr>
        <p:spPr>
          <a:xfrm>
            <a:off x="6012180" y="2148840"/>
            <a:ext cx="164592" cy="96012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6176772" y="2148840"/>
            <a:ext cx="2649474" cy="960120"/>
          </a:xfrm>
          <a:prstGeom prst="roundRect">
            <a:avLst>
              <a:gd name="adj" fmla="val 5714"/>
            </a:avLst>
          </a:prstGeom>
          <a:solidFill>
            <a:srgbClr val="EAFBFF"/>
          </a:solidFill>
          <a:ln w="12700">
            <a:solidFill>
              <a:srgbClr val="1596B0"/>
            </a:solidFill>
            <a:prstDash val="solid"/>
          </a:ln>
        </p:spPr>
      </p:sp>
      <p:sp>
        <p:nvSpPr>
          <p:cNvPr id="12" name="Text 10"/>
          <p:cNvSpPr/>
          <p:nvPr/>
        </p:nvSpPr>
        <p:spPr>
          <a:xfrm>
            <a:off x="6249924" y="21488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Select</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Participants</a:t>
            </a:r>
            <a:endParaRPr lang="en-US" sz="1250" dirty="0"/>
          </a:p>
        </p:txBody>
      </p:sp>
      <p:sp>
        <p:nvSpPr>
          <p:cNvPr id="13" name="Text 11"/>
          <p:cNvSpPr/>
          <p:nvPr/>
        </p:nvSpPr>
        <p:spPr>
          <a:xfrm>
            <a:off x="8826246" y="2148840"/>
            <a:ext cx="164592" cy="96012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8990838" y="2148840"/>
            <a:ext cx="2649474" cy="960120"/>
          </a:xfrm>
          <a:prstGeom prst="roundRect">
            <a:avLst>
              <a:gd name="adj" fmla="val 5714"/>
            </a:avLst>
          </a:prstGeom>
          <a:solidFill>
            <a:srgbClr val="EAFBFF"/>
          </a:solidFill>
          <a:ln w="12700">
            <a:solidFill>
              <a:srgbClr val="1596B0"/>
            </a:solidFill>
            <a:prstDash val="solid"/>
          </a:ln>
        </p:spPr>
      </p:sp>
      <p:sp>
        <p:nvSpPr>
          <p:cNvPr id="15" name="Text 13"/>
          <p:cNvSpPr/>
          <p:nvPr/>
        </p:nvSpPr>
        <p:spPr>
          <a:xfrm>
            <a:off x="9063990" y="21488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Create / Attach</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Meeting</a:t>
            </a:r>
            <a:endParaRPr lang="en-US" sz="1250" dirty="0"/>
          </a:p>
        </p:txBody>
      </p:sp>
      <p:sp>
        <p:nvSpPr>
          <p:cNvPr id="16" name="Text 14"/>
          <p:cNvSpPr/>
          <p:nvPr/>
        </p:nvSpPr>
        <p:spPr>
          <a:xfrm>
            <a:off x="10607040" y="3108960"/>
            <a:ext cx="457200" cy="365760"/>
          </a:xfrm>
          <a:prstGeom prst="rect">
            <a:avLst/>
          </a:prstGeom>
          <a:noFill/>
          <a:ln/>
        </p:spPr>
        <p:txBody>
          <a:bodyPr wrap="square" rtlCol="0" anchor="ctr"/>
          <a:lstStyle/>
          <a:p>
            <a:pPr algn="ctr" indent="0" marL="0">
              <a:buNone/>
            </a:pPr>
            <a:r>
              <a:rPr lang="en-US" sz="1600" dirty="0">
                <a:solidFill>
                  <a:srgbClr val="5B6B72"/>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548640" y="3520440"/>
            <a:ext cx="2649474" cy="960120"/>
          </a:xfrm>
          <a:prstGeom prst="roundRect">
            <a:avLst>
              <a:gd name="adj" fmla="val 5714"/>
            </a:avLst>
          </a:prstGeom>
          <a:solidFill>
            <a:srgbClr val="EAFBFF"/>
          </a:solidFill>
          <a:ln w="12700">
            <a:solidFill>
              <a:srgbClr val="1596B0"/>
            </a:solidFill>
            <a:prstDash val="solid"/>
          </a:ln>
        </p:spPr>
      </p:sp>
      <p:sp>
        <p:nvSpPr>
          <p:cNvPr id="18" name="Text 16"/>
          <p:cNvSpPr/>
          <p:nvPr/>
        </p:nvSpPr>
        <p:spPr>
          <a:xfrm>
            <a:off x="621792" y="35204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Notify</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Participants</a:t>
            </a:r>
            <a:endParaRPr lang="en-US" sz="1250" dirty="0"/>
          </a:p>
        </p:txBody>
      </p:sp>
      <p:sp>
        <p:nvSpPr>
          <p:cNvPr id="19" name="Text 17"/>
          <p:cNvSpPr/>
          <p:nvPr/>
        </p:nvSpPr>
        <p:spPr>
          <a:xfrm>
            <a:off x="3198114" y="3520440"/>
            <a:ext cx="164592" cy="96012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20" name="Shape 18"/>
          <p:cNvSpPr/>
          <p:nvPr/>
        </p:nvSpPr>
        <p:spPr>
          <a:xfrm>
            <a:off x="3362706" y="3520440"/>
            <a:ext cx="2649474" cy="960120"/>
          </a:xfrm>
          <a:prstGeom prst="roundRect">
            <a:avLst>
              <a:gd name="adj" fmla="val 5714"/>
            </a:avLst>
          </a:prstGeom>
          <a:solidFill>
            <a:srgbClr val="EAFBFF"/>
          </a:solidFill>
          <a:ln w="12700">
            <a:solidFill>
              <a:srgbClr val="1596B0"/>
            </a:solidFill>
            <a:prstDash val="solid"/>
          </a:ln>
        </p:spPr>
      </p:sp>
      <p:sp>
        <p:nvSpPr>
          <p:cNvPr id="21" name="Text 19"/>
          <p:cNvSpPr/>
          <p:nvPr/>
        </p:nvSpPr>
        <p:spPr>
          <a:xfrm>
            <a:off x="3435858" y="35204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Conduct</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Training</a:t>
            </a:r>
            <a:endParaRPr lang="en-US" sz="1250" dirty="0"/>
          </a:p>
        </p:txBody>
      </p:sp>
      <p:sp>
        <p:nvSpPr>
          <p:cNvPr id="22" name="Text 20"/>
          <p:cNvSpPr/>
          <p:nvPr/>
        </p:nvSpPr>
        <p:spPr>
          <a:xfrm>
            <a:off x="6012180" y="3520440"/>
            <a:ext cx="164592" cy="96012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23" name="Shape 21"/>
          <p:cNvSpPr/>
          <p:nvPr/>
        </p:nvSpPr>
        <p:spPr>
          <a:xfrm>
            <a:off x="6176772" y="3520440"/>
            <a:ext cx="2649474" cy="960120"/>
          </a:xfrm>
          <a:prstGeom prst="roundRect">
            <a:avLst>
              <a:gd name="adj" fmla="val 5714"/>
            </a:avLst>
          </a:prstGeom>
          <a:solidFill>
            <a:srgbClr val="EAFBFF"/>
          </a:solidFill>
          <a:ln w="12700">
            <a:solidFill>
              <a:srgbClr val="1596B0"/>
            </a:solidFill>
            <a:prstDash val="solid"/>
          </a:ln>
        </p:spPr>
      </p:sp>
      <p:sp>
        <p:nvSpPr>
          <p:cNvPr id="24" name="Text 22"/>
          <p:cNvSpPr/>
          <p:nvPr/>
        </p:nvSpPr>
        <p:spPr>
          <a:xfrm>
            <a:off x="6249924" y="35204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Attendance</a:t>
            </a:r>
            <a:endParaRPr lang="en-US" sz="1250" dirty="0"/>
          </a:p>
        </p:txBody>
      </p:sp>
      <p:sp>
        <p:nvSpPr>
          <p:cNvPr id="25" name="Text 23"/>
          <p:cNvSpPr/>
          <p:nvPr/>
        </p:nvSpPr>
        <p:spPr>
          <a:xfrm>
            <a:off x="8826246" y="3520440"/>
            <a:ext cx="164592" cy="96012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26" name="Shape 24"/>
          <p:cNvSpPr/>
          <p:nvPr/>
        </p:nvSpPr>
        <p:spPr>
          <a:xfrm>
            <a:off x="8990838" y="3520440"/>
            <a:ext cx="2649474" cy="960120"/>
          </a:xfrm>
          <a:prstGeom prst="roundRect">
            <a:avLst>
              <a:gd name="adj" fmla="val 5714"/>
            </a:avLst>
          </a:prstGeom>
          <a:solidFill>
            <a:srgbClr val="EAFBFF"/>
          </a:solidFill>
          <a:ln w="12700">
            <a:solidFill>
              <a:srgbClr val="1596B0"/>
            </a:solidFill>
            <a:prstDash val="solid"/>
          </a:ln>
        </p:spPr>
      </p:sp>
      <p:sp>
        <p:nvSpPr>
          <p:cNvPr id="27" name="Text 25"/>
          <p:cNvSpPr/>
          <p:nvPr/>
        </p:nvSpPr>
        <p:spPr>
          <a:xfrm>
            <a:off x="9063990" y="3520440"/>
            <a:ext cx="2503170" cy="96012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Training</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Completion</a:t>
            </a:r>
            <a:endParaRPr lang="en-US" sz="1250" dirty="0"/>
          </a:p>
        </p:txBody>
      </p:sp>
      <p:sp>
        <p:nvSpPr>
          <p:cNvPr id="28" name="Text 26"/>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9" name="Text 27"/>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13</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Reassessment &amp; Certification</a:t>
            </a:r>
            <a:endParaRPr lang="en-US" sz="2700" dirty="0"/>
          </a:p>
        </p:txBody>
      </p:sp>
      <p:sp>
        <p:nvSpPr>
          <p:cNvPr id="4" name="Text 2"/>
          <p:cNvSpPr/>
          <p:nvPr/>
        </p:nvSpPr>
        <p:spPr>
          <a:xfrm>
            <a:off x="548640" y="1417320"/>
            <a:ext cx="5486400" cy="365760"/>
          </a:xfrm>
          <a:prstGeom prst="rect">
            <a:avLst/>
          </a:prstGeom>
          <a:noFill/>
          <a:ln/>
        </p:spPr>
        <p:txBody>
          <a:bodyPr wrap="square" rtlCol="0" anchor="ctr"/>
          <a:lstStyle/>
          <a:p>
            <a:pPr indent="0" marL="0">
              <a:buNone/>
            </a:pPr>
            <a:r>
              <a:rPr lang="en-US" sz="1500" b="1" dirty="0">
                <a:solidFill>
                  <a:srgbClr val="0E7490"/>
                </a:solidFill>
                <a:latin typeface="Arial" pitchFamily="34" charset="0"/>
                <a:ea typeface="Arial" pitchFamily="34" charset="-122"/>
                <a:cs typeface="Arial" pitchFamily="34" charset="-120"/>
              </a:rPr>
              <a:t>Reassessment</a:t>
            </a:r>
            <a:endParaRPr lang="en-US" sz="1500" dirty="0"/>
          </a:p>
        </p:txBody>
      </p:sp>
      <p:sp>
        <p:nvSpPr>
          <p:cNvPr id="5" name="Shape 3"/>
          <p:cNvSpPr/>
          <p:nvPr/>
        </p:nvSpPr>
        <p:spPr>
          <a:xfrm>
            <a:off x="548640" y="1828800"/>
            <a:ext cx="2086661" cy="914400"/>
          </a:xfrm>
          <a:prstGeom prst="roundRect">
            <a:avLst>
              <a:gd name="adj" fmla="val 6000"/>
            </a:avLst>
          </a:prstGeom>
          <a:solidFill>
            <a:srgbClr val="EAFBFF"/>
          </a:solidFill>
          <a:ln w="12700">
            <a:solidFill>
              <a:srgbClr val="1596B0"/>
            </a:solidFill>
            <a:prstDash val="solid"/>
          </a:ln>
        </p:spPr>
      </p:sp>
      <p:sp>
        <p:nvSpPr>
          <p:cNvPr id="6" name="Text 4"/>
          <p:cNvSpPr/>
          <p:nvPr/>
        </p:nvSpPr>
        <p:spPr>
          <a:xfrm>
            <a:off x="621792" y="182880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Initial</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Assessment</a:t>
            </a:r>
            <a:endParaRPr lang="en-US" sz="1250" dirty="0"/>
          </a:p>
        </p:txBody>
      </p:sp>
      <p:sp>
        <p:nvSpPr>
          <p:cNvPr id="7" name="Text 5"/>
          <p:cNvSpPr/>
          <p:nvPr/>
        </p:nvSpPr>
        <p:spPr>
          <a:xfrm>
            <a:off x="2635301" y="182880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2799893" y="1828800"/>
            <a:ext cx="2086661" cy="914400"/>
          </a:xfrm>
          <a:prstGeom prst="roundRect">
            <a:avLst>
              <a:gd name="adj" fmla="val 6000"/>
            </a:avLst>
          </a:prstGeom>
          <a:solidFill>
            <a:srgbClr val="EAFBFF"/>
          </a:solidFill>
          <a:ln w="12700">
            <a:solidFill>
              <a:srgbClr val="1596B0"/>
            </a:solidFill>
            <a:prstDash val="solid"/>
          </a:ln>
        </p:spPr>
      </p:sp>
      <p:sp>
        <p:nvSpPr>
          <p:cNvPr id="9" name="Text 7"/>
          <p:cNvSpPr/>
          <p:nvPr/>
        </p:nvSpPr>
        <p:spPr>
          <a:xfrm>
            <a:off x="2873045" y="182880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Gap</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Identified</a:t>
            </a:r>
            <a:endParaRPr lang="en-US" sz="1250" dirty="0"/>
          </a:p>
        </p:txBody>
      </p:sp>
      <p:sp>
        <p:nvSpPr>
          <p:cNvPr id="10" name="Text 8"/>
          <p:cNvSpPr/>
          <p:nvPr/>
        </p:nvSpPr>
        <p:spPr>
          <a:xfrm>
            <a:off x="4886554" y="182880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5051146" y="1828800"/>
            <a:ext cx="2086661" cy="914400"/>
          </a:xfrm>
          <a:prstGeom prst="roundRect">
            <a:avLst>
              <a:gd name="adj" fmla="val 6000"/>
            </a:avLst>
          </a:prstGeom>
          <a:solidFill>
            <a:srgbClr val="EAFBFF"/>
          </a:solidFill>
          <a:ln w="12700">
            <a:solidFill>
              <a:srgbClr val="1596B0"/>
            </a:solidFill>
            <a:prstDash val="solid"/>
          </a:ln>
        </p:spPr>
      </p:sp>
      <p:sp>
        <p:nvSpPr>
          <p:cNvPr id="12" name="Text 10"/>
          <p:cNvSpPr/>
          <p:nvPr/>
        </p:nvSpPr>
        <p:spPr>
          <a:xfrm>
            <a:off x="5124298" y="182880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Training</a:t>
            </a:r>
            <a:endParaRPr lang="en-US" sz="1250" dirty="0"/>
          </a:p>
        </p:txBody>
      </p:sp>
      <p:sp>
        <p:nvSpPr>
          <p:cNvPr id="13" name="Text 11"/>
          <p:cNvSpPr/>
          <p:nvPr/>
        </p:nvSpPr>
        <p:spPr>
          <a:xfrm>
            <a:off x="7137806" y="182880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7302398" y="1828800"/>
            <a:ext cx="2086661" cy="914400"/>
          </a:xfrm>
          <a:prstGeom prst="roundRect">
            <a:avLst>
              <a:gd name="adj" fmla="val 6000"/>
            </a:avLst>
          </a:prstGeom>
          <a:solidFill>
            <a:srgbClr val="EAFBFF"/>
          </a:solidFill>
          <a:ln w="12700">
            <a:solidFill>
              <a:srgbClr val="1596B0"/>
            </a:solidFill>
            <a:prstDash val="solid"/>
          </a:ln>
        </p:spPr>
      </p:sp>
      <p:sp>
        <p:nvSpPr>
          <p:cNvPr id="15" name="Text 13"/>
          <p:cNvSpPr/>
          <p:nvPr/>
        </p:nvSpPr>
        <p:spPr>
          <a:xfrm>
            <a:off x="7375550" y="182880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Reassessment</a:t>
            </a:r>
            <a:endParaRPr lang="en-US" sz="1250" dirty="0"/>
          </a:p>
        </p:txBody>
      </p:sp>
      <p:sp>
        <p:nvSpPr>
          <p:cNvPr id="16" name="Text 14"/>
          <p:cNvSpPr/>
          <p:nvPr/>
        </p:nvSpPr>
        <p:spPr>
          <a:xfrm>
            <a:off x="9389059" y="182880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7" name="Shape 15"/>
          <p:cNvSpPr/>
          <p:nvPr/>
        </p:nvSpPr>
        <p:spPr>
          <a:xfrm>
            <a:off x="9553651" y="1828800"/>
            <a:ext cx="2086661" cy="914400"/>
          </a:xfrm>
          <a:prstGeom prst="roundRect">
            <a:avLst>
              <a:gd name="adj" fmla="val 6000"/>
            </a:avLst>
          </a:prstGeom>
          <a:solidFill>
            <a:srgbClr val="EAFBFF"/>
          </a:solidFill>
          <a:ln w="12700">
            <a:solidFill>
              <a:srgbClr val="1596B0"/>
            </a:solidFill>
            <a:prstDash val="solid"/>
          </a:ln>
        </p:spPr>
      </p:sp>
      <p:sp>
        <p:nvSpPr>
          <p:cNvPr id="18" name="Text 16"/>
          <p:cNvSpPr/>
          <p:nvPr/>
        </p:nvSpPr>
        <p:spPr>
          <a:xfrm>
            <a:off x="9626803" y="182880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Updated</a:t>
            </a:r>
            <a:endParaRPr lang="en-US" sz="1250" dirty="0"/>
          </a:p>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Competency</a:t>
            </a:r>
            <a:endParaRPr lang="en-US" sz="1250" dirty="0"/>
          </a:p>
        </p:txBody>
      </p:sp>
      <p:sp>
        <p:nvSpPr>
          <p:cNvPr id="19" name="Text 17"/>
          <p:cNvSpPr/>
          <p:nvPr/>
        </p:nvSpPr>
        <p:spPr>
          <a:xfrm>
            <a:off x="548640" y="2788920"/>
            <a:ext cx="11064240" cy="320040"/>
          </a:xfrm>
          <a:prstGeom prst="rect">
            <a:avLst/>
          </a:prstGeom>
          <a:noFill/>
          <a:ln/>
        </p:spPr>
        <p:txBody>
          <a:bodyPr wrap="square" rtlCol="0" anchor="ctr"/>
          <a:lstStyle/>
          <a:p>
            <a:pPr algn="ctr" indent="0" marL="0">
              <a:buNone/>
            </a:pPr>
            <a:r>
              <a:rPr lang="en-US" sz="1100" i="1" dirty="0">
                <a:solidFill>
                  <a:srgbClr val="5B6B72"/>
                </a:solidFill>
                <a:latin typeface="Arial" pitchFamily="34" charset="0"/>
                <a:ea typeface="Arial" pitchFamily="34" charset="-122"/>
                <a:cs typeface="Arial" pitchFamily="34" charset="-120"/>
              </a:rPr>
              <a:t>Cycle repeats for continuous competency improvement</a:t>
            </a:r>
            <a:endParaRPr lang="en-US" sz="1100" dirty="0"/>
          </a:p>
        </p:txBody>
      </p:sp>
      <p:sp>
        <p:nvSpPr>
          <p:cNvPr id="20" name="Text 18"/>
          <p:cNvSpPr/>
          <p:nvPr/>
        </p:nvSpPr>
        <p:spPr>
          <a:xfrm>
            <a:off x="548640" y="3337560"/>
            <a:ext cx="5486400" cy="365760"/>
          </a:xfrm>
          <a:prstGeom prst="rect">
            <a:avLst/>
          </a:prstGeom>
          <a:noFill/>
          <a:ln/>
        </p:spPr>
        <p:txBody>
          <a:bodyPr wrap="square" rtlCol="0" anchor="ctr"/>
          <a:lstStyle/>
          <a:p>
            <a:pPr indent="0" marL="0">
              <a:buNone/>
            </a:pPr>
            <a:r>
              <a:rPr lang="en-US" sz="1500" b="1" dirty="0">
                <a:solidFill>
                  <a:srgbClr val="0E7490"/>
                </a:solidFill>
                <a:latin typeface="Arial" pitchFamily="34" charset="0"/>
                <a:ea typeface="Arial" pitchFamily="34" charset="-122"/>
                <a:cs typeface="Arial" pitchFamily="34" charset="-120"/>
              </a:rPr>
              <a:t>Certification</a:t>
            </a:r>
            <a:endParaRPr lang="en-US" sz="1500" dirty="0"/>
          </a:p>
        </p:txBody>
      </p:sp>
      <p:sp>
        <p:nvSpPr>
          <p:cNvPr id="21" name="Text 19"/>
          <p:cNvSpPr/>
          <p:nvPr/>
        </p:nvSpPr>
        <p:spPr>
          <a:xfrm>
            <a:off x="548640" y="3749040"/>
            <a:ext cx="10789920" cy="4114800"/>
          </a:xfrm>
          <a:prstGeom prst="rect">
            <a:avLst/>
          </a:prstGeom>
          <a:noFill/>
          <a:ln/>
        </p:spPr>
        <p:txBody>
          <a:bodyPr wrap="square" rtlCol="0" anchor="t"/>
          <a:lstStyle/>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Certificate generation</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Certificate details, competency / category, and issue date</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Validity period, if applicable</a:t>
            </a:r>
            <a:endParaRPr lang="en-US" sz="1350" dirty="0"/>
          </a:p>
          <a:p>
            <a:pPr marL="228600" indent="-228600">
              <a:lnSpc>
                <a:spcPts val="1800"/>
              </a:lnSpc>
              <a:spcAft>
                <a:spcPts val="1000"/>
              </a:spcAft>
              <a:buSzPct val="100000"/>
              <a:buChar char="•"/>
            </a:pPr>
            <a:r>
              <a:rPr lang="en-US" sz="1350" dirty="0">
                <a:solidFill>
                  <a:srgbClr val="17262A"/>
                </a:solidFill>
                <a:latin typeface="Arial" pitchFamily="34" charset="0"/>
                <a:ea typeface="Arial" pitchFamily="34" charset="-122"/>
                <a:cs typeface="Arial" pitchFamily="34" charset="-120"/>
              </a:rPr>
              <a:t>Linked employee certification history</a:t>
            </a:r>
            <a:endParaRPr lang="en-US" sz="1350" dirty="0"/>
          </a:p>
        </p:txBody>
      </p:sp>
      <p:sp>
        <p:nvSpPr>
          <p:cNvPr id="22" name="Text 20"/>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3" name="Text 2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14</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Management Dashboard &amp; MIS</a:t>
            </a:r>
            <a:endParaRPr lang="en-US" sz="27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450" dirty="0">
                <a:solidFill>
                  <a:srgbClr val="17262A"/>
                </a:solidFill>
                <a:latin typeface="Arial" pitchFamily="34" charset="0"/>
                <a:ea typeface="Arial" pitchFamily="34" charset="-122"/>
                <a:cs typeface="Arial" pitchFamily="34" charset="-120"/>
              </a:rPr>
              <a:t>Consolidated visibility across all sites through a central dashboard, covering:</a:t>
            </a:r>
            <a:endParaRPr lang="en-US" sz="1450" dirty="0"/>
          </a:p>
        </p:txBody>
      </p:sp>
      <p:sp>
        <p:nvSpPr>
          <p:cNvPr id="5" name="Text 3"/>
          <p:cNvSpPr/>
          <p:nvPr/>
        </p:nvSpPr>
        <p:spPr>
          <a:xfrm>
            <a:off x="548640" y="2103120"/>
            <a:ext cx="5394960" cy="4114800"/>
          </a:xfrm>
          <a:prstGeom prst="rect">
            <a:avLst/>
          </a:prstGeom>
          <a:noFill/>
          <a:ln/>
        </p:spPr>
        <p:txBody>
          <a:bodyPr wrap="square" rtlCol="0" anchor="t"/>
          <a:lstStyle/>
          <a:p>
            <a:pPr marL="228600" indent="-228600">
              <a:lnSpc>
                <a:spcPts val="1800"/>
              </a:lnSpc>
              <a:spcAft>
                <a:spcPts val="1200"/>
              </a:spcAft>
              <a:buSzPct val="100000"/>
              <a:buChar char="•"/>
            </a:pPr>
            <a:r>
              <a:rPr lang="en-US" sz="1350" dirty="0">
                <a:solidFill>
                  <a:srgbClr val="17262A"/>
                </a:solidFill>
                <a:latin typeface="Arial" pitchFamily="34" charset="0"/>
                <a:ea typeface="Arial" pitchFamily="34" charset="-122"/>
                <a:cs typeface="Arial" pitchFamily="34" charset="-120"/>
              </a:rPr>
              <a:t>Employee, site-wise &amp; job-category-wise competency</a:t>
            </a:r>
            <a:endParaRPr lang="en-US" sz="1350" dirty="0"/>
          </a:p>
          <a:p>
            <a:pPr marL="228600" indent="-228600">
              <a:lnSpc>
                <a:spcPts val="1800"/>
              </a:lnSpc>
              <a:spcAft>
                <a:spcPts val="1200"/>
              </a:spcAft>
              <a:buSzPct val="100000"/>
              <a:buChar char="•"/>
            </a:pPr>
            <a:r>
              <a:rPr lang="en-US" sz="1350" dirty="0">
                <a:solidFill>
                  <a:srgbClr val="17262A"/>
                </a:solidFill>
                <a:latin typeface="Arial" pitchFamily="34" charset="0"/>
                <a:ea typeface="Arial" pitchFamily="34" charset="-122"/>
                <a:cs typeface="Arial" pitchFamily="34" charset="-120"/>
              </a:rPr>
              <a:t>Assessment status and training status</a:t>
            </a:r>
            <a:endParaRPr lang="en-US" sz="1350" dirty="0"/>
          </a:p>
          <a:p>
            <a:pPr marL="228600" indent="-228600">
              <a:lnSpc>
                <a:spcPts val="1800"/>
              </a:lnSpc>
              <a:spcAft>
                <a:spcPts val="1200"/>
              </a:spcAft>
              <a:buSzPct val="100000"/>
              <a:buChar char="•"/>
            </a:pPr>
            <a:r>
              <a:rPr lang="en-US" sz="1350" dirty="0">
                <a:solidFill>
                  <a:srgbClr val="17262A"/>
                </a:solidFill>
                <a:latin typeface="Arial" pitchFamily="34" charset="0"/>
                <a:ea typeface="Arial" pitchFamily="34" charset="-122"/>
                <a:cs typeface="Arial" pitchFamily="34" charset="-120"/>
              </a:rPr>
              <a:t>Pending and upcoming training</a:t>
            </a:r>
            <a:endParaRPr lang="en-US" sz="1350" dirty="0"/>
          </a:p>
        </p:txBody>
      </p:sp>
      <p:sp>
        <p:nvSpPr>
          <p:cNvPr id="6" name="Text 4"/>
          <p:cNvSpPr/>
          <p:nvPr/>
        </p:nvSpPr>
        <p:spPr>
          <a:xfrm>
            <a:off x="6126480" y="2103120"/>
            <a:ext cx="5394960" cy="4114800"/>
          </a:xfrm>
          <a:prstGeom prst="rect">
            <a:avLst/>
          </a:prstGeom>
          <a:noFill/>
          <a:ln/>
        </p:spPr>
        <p:txBody>
          <a:bodyPr wrap="square" rtlCol="0" anchor="t"/>
          <a:lstStyle/>
          <a:p>
            <a:pPr marL="228600" indent="-228600">
              <a:lnSpc>
                <a:spcPts val="1800"/>
              </a:lnSpc>
              <a:spcAft>
                <a:spcPts val="1200"/>
              </a:spcAft>
              <a:buSzPct val="100000"/>
              <a:buChar char="•"/>
            </a:pPr>
            <a:r>
              <a:rPr lang="en-US" sz="1350" dirty="0">
                <a:solidFill>
                  <a:srgbClr val="17262A"/>
                </a:solidFill>
                <a:latin typeface="Arial" pitchFamily="34" charset="0"/>
                <a:ea typeface="Arial" pitchFamily="34" charset="-122"/>
                <a:cs typeface="Arial" pitchFamily="34" charset="-120"/>
              </a:rPr>
              <a:t>Competency gaps and compliance</a:t>
            </a:r>
            <a:endParaRPr lang="en-US" sz="1350" dirty="0"/>
          </a:p>
          <a:p>
            <a:pPr marL="228600" indent="-228600">
              <a:lnSpc>
                <a:spcPts val="1800"/>
              </a:lnSpc>
              <a:spcAft>
                <a:spcPts val="1200"/>
              </a:spcAft>
              <a:buSzPct val="100000"/>
              <a:buChar char="•"/>
            </a:pPr>
            <a:r>
              <a:rPr lang="en-US" sz="1350" dirty="0">
                <a:solidFill>
                  <a:srgbClr val="17262A"/>
                </a:solidFill>
                <a:latin typeface="Arial" pitchFamily="34" charset="0"/>
                <a:ea typeface="Arial" pitchFamily="34" charset="-122"/>
                <a:cs typeface="Arial" pitchFamily="34" charset="-120"/>
              </a:rPr>
              <a:t>Trends over time</a:t>
            </a:r>
            <a:endParaRPr lang="en-US" sz="1350" dirty="0"/>
          </a:p>
        </p:txBody>
      </p:sp>
      <p:sp>
        <p:nvSpPr>
          <p:cNvPr id="7" name="Text 5"/>
          <p:cNvSpPr/>
          <p:nvPr/>
        </p:nvSpPr>
        <p:spPr>
          <a:xfrm>
            <a:off x="548640" y="3657600"/>
            <a:ext cx="11064240" cy="777240"/>
          </a:xfrm>
          <a:prstGeom prst="rect">
            <a:avLst/>
          </a:prstGeom>
          <a:noFill/>
          <a:ln/>
        </p:spPr>
        <p:txBody>
          <a:bodyPr wrap="square" rtlCol="0" anchor="ctr"/>
          <a:lstStyle/>
          <a:p>
            <a:pPr indent="0" marL="0">
              <a:lnSpc>
                <a:spcPts val="1700"/>
              </a:lnSpc>
              <a:buNone/>
            </a:pPr>
            <a:r>
              <a:rPr lang="en-US" sz="1250" dirty="0">
                <a:solidFill>
                  <a:srgbClr val="17262A"/>
                </a:solidFill>
                <a:latin typeface="Arial" pitchFamily="34" charset="0"/>
                <a:ea typeface="Arial" pitchFamily="34" charset="-122"/>
                <a:cs typeface="Arial" pitchFamily="34" charset="-120"/>
              </a:rPr>
              <a:t>Supported by MIS reports — employee competency, site-wise, assessment, training, Learning Need Identification, competency gap, certification, and training history.</a:t>
            </a:r>
            <a:endParaRPr lang="en-US" sz="1250" dirty="0"/>
          </a:p>
        </p:txBody>
      </p:sp>
      <p:sp>
        <p:nvSpPr>
          <p:cNvPr id="8" name="Shape 6"/>
          <p:cNvSpPr/>
          <p:nvPr/>
        </p:nvSpPr>
        <p:spPr>
          <a:xfrm>
            <a:off x="548640" y="4663440"/>
            <a:ext cx="45720" cy="548640"/>
          </a:xfrm>
          <a:prstGeom prst="rect">
            <a:avLst/>
          </a:prstGeom>
          <a:solidFill>
            <a:srgbClr val="D97B3F"/>
          </a:solidFill>
          <a:ln/>
        </p:spPr>
      </p:sp>
      <p:sp>
        <p:nvSpPr>
          <p:cNvPr id="9" name="Text 7"/>
          <p:cNvSpPr/>
          <p:nvPr/>
        </p:nvSpPr>
        <p:spPr>
          <a:xfrm>
            <a:off x="749808" y="4663440"/>
            <a:ext cx="10863072" cy="548640"/>
          </a:xfrm>
          <a:prstGeom prst="rect">
            <a:avLst/>
          </a:prstGeom>
          <a:noFill/>
          <a:ln/>
        </p:spPr>
        <p:txBody>
          <a:bodyPr wrap="square" rtlCol="0" anchor="t"/>
          <a:lstStyle/>
          <a:p>
            <a:pPr indent="0" marL="0">
              <a:lnSpc>
                <a:spcPts val="1500"/>
              </a:lnSpc>
              <a:buNone/>
            </a:pPr>
            <a:r>
              <a:rPr lang="en-US" sz="1200" i="1" dirty="0">
                <a:solidFill>
                  <a:srgbClr val="5B6B72"/>
                </a:solidFill>
                <a:latin typeface="Arial" pitchFamily="34" charset="0"/>
                <a:ea typeface="Arial" pitchFamily="34" charset="-122"/>
                <a:cs typeface="Arial" pitchFamily="34" charset="-120"/>
              </a:rPr>
              <a:t>Exact report formats and specific fields will be finalized together with NEIPL, rather than fixed in advance.</a:t>
            </a:r>
            <a:endParaRPr lang="en-US" sz="1200" dirty="0"/>
          </a:p>
        </p:txBody>
      </p:sp>
      <p:sp>
        <p:nvSpPr>
          <p:cNvPr id="10" name="Text 8"/>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11" name="Text 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15</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Roles, Permissions &amp; Audit Trail</a:t>
            </a:r>
            <a:endParaRPr lang="en-US" sz="27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400" dirty="0">
                <a:solidFill>
                  <a:srgbClr val="17262A"/>
                </a:solidFill>
                <a:latin typeface="Arial" pitchFamily="34" charset="0"/>
                <a:ea typeface="Arial" pitchFamily="34" charset="-122"/>
                <a:cs typeface="Arial" pitchFamily="34" charset="-120"/>
              </a:rPr>
              <a:t>Access will be role-based. The roles below represent a proposed starting structure: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86868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0A0F1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Typical Access</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0A0F10"/>
                    </a:solidFill>
                  </a:tcPr>
                </a:tc>
              </a:tr>
              <a:tr h="0">
                <a:tc>
                  <a:txBody>
                    <a:bodyPr/>
                    <a:lstStyle/>
                    <a:p>
                      <a:pPr indent="0" marL="0">
                        <a:buNone/>
                      </a:pPr>
                      <a:r>
                        <a:rPr lang="en-US" sz="1200" dirty="0">
                          <a:solidFill>
                            <a:srgbClr val="0A0F10"/>
                          </a:solidFill>
                          <a:latin typeface="Arial" pitchFamily="34" charset="0"/>
                          <a:ea typeface="Arial" pitchFamily="34" charset="-122"/>
                          <a:cs typeface="Arial" pitchFamily="34" charset="-120"/>
                        </a:rPr>
                        <a:t>Admin</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FFFFFF"/>
                    </a:solidFill>
                  </a:tcPr>
                </a:tc>
                <a:tc>
                  <a:txBody>
                    <a:bodyPr/>
                    <a:lstStyle/>
                    <a:p>
                      <a:pPr indent="0" marL="0">
                        <a:buNone/>
                      </a:pPr>
                      <a:r>
                        <a:rPr lang="en-US" sz="1200" dirty="0">
                          <a:solidFill>
                            <a:srgbClr val="0A0F10"/>
                          </a:solidFill>
                          <a:latin typeface="Arial" pitchFamily="34" charset="0"/>
                          <a:ea typeface="Arial" pitchFamily="34" charset="-122"/>
                          <a:cs typeface="Arial" pitchFamily="34" charset="-120"/>
                        </a:rPr>
                        <a:t>System configuration, job category / competency framework setup, user management</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A0F10"/>
                          </a:solidFill>
                          <a:latin typeface="Arial" pitchFamily="34" charset="0"/>
                          <a:ea typeface="Arial" pitchFamily="34" charset="-122"/>
                          <a:cs typeface="Arial" pitchFamily="34" charset="-120"/>
                        </a:rPr>
                        <a:t>Management</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EAFBFF"/>
                    </a:solidFill>
                  </a:tcPr>
                </a:tc>
                <a:tc>
                  <a:txBody>
                    <a:bodyPr/>
                    <a:lstStyle/>
                    <a:p>
                      <a:pPr indent="0" marL="0">
                        <a:buNone/>
                      </a:pPr>
                      <a:r>
                        <a:rPr lang="en-US" sz="1200" dirty="0">
                          <a:solidFill>
                            <a:srgbClr val="0A0F10"/>
                          </a:solidFill>
                          <a:latin typeface="Arial" pitchFamily="34" charset="0"/>
                          <a:ea typeface="Arial" pitchFamily="34" charset="-122"/>
                          <a:cs typeface="Arial" pitchFamily="34" charset="-120"/>
                        </a:rPr>
                        <a:t>Cross-site visibility, dashboards, reports, approvals</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EAFBFF"/>
                    </a:solidFill>
                  </a:tcPr>
                </a:tc>
              </a:tr>
              <a:tr h="0">
                <a:tc>
                  <a:txBody>
                    <a:bodyPr/>
                    <a:lstStyle/>
                    <a:p>
                      <a:pPr indent="0" marL="0">
                        <a:buNone/>
                      </a:pPr>
                      <a:r>
                        <a:rPr lang="en-US" sz="1200" dirty="0">
                          <a:solidFill>
                            <a:srgbClr val="0A0F10"/>
                          </a:solidFill>
                          <a:latin typeface="Arial" pitchFamily="34" charset="0"/>
                          <a:ea typeface="Arial" pitchFamily="34" charset="-122"/>
                          <a:cs typeface="Arial" pitchFamily="34" charset="-120"/>
                        </a:rPr>
                        <a:t>Evaluator / Trainer</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FFFFFF"/>
                    </a:solidFill>
                  </a:tcPr>
                </a:tc>
                <a:tc>
                  <a:txBody>
                    <a:bodyPr/>
                    <a:lstStyle/>
                    <a:p>
                      <a:pPr indent="0" marL="0">
                        <a:buNone/>
                      </a:pPr>
                      <a:r>
                        <a:rPr lang="en-US" sz="1200" dirty="0">
                          <a:solidFill>
                            <a:srgbClr val="0A0F10"/>
                          </a:solidFill>
                          <a:latin typeface="Arial" pitchFamily="34" charset="0"/>
                          <a:ea typeface="Arial" pitchFamily="34" charset="-122"/>
                          <a:cs typeface="Arial" pitchFamily="34" charset="-120"/>
                        </a:rPr>
                        <a:t>Conducting assessments, entering scores, delivering and tracking training</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A0F10"/>
                          </a:solidFill>
                          <a:latin typeface="Arial" pitchFamily="34" charset="0"/>
                          <a:ea typeface="Arial" pitchFamily="34" charset="-122"/>
                          <a:cs typeface="Arial" pitchFamily="34" charset="-120"/>
                        </a:rPr>
                        <a:t>Employee</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EAFBFF"/>
                    </a:solidFill>
                  </a:tcPr>
                </a:tc>
                <a:tc>
                  <a:txBody>
                    <a:bodyPr/>
                    <a:lstStyle/>
                    <a:p>
                      <a:pPr indent="0" marL="0">
                        <a:buNone/>
                      </a:pPr>
                      <a:r>
                        <a:rPr lang="en-US" sz="1200" dirty="0">
                          <a:solidFill>
                            <a:srgbClr val="0A0F10"/>
                          </a:solidFill>
                          <a:latin typeface="Arial" pitchFamily="34" charset="0"/>
                          <a:ea typeface="Arial" pitchFamily="34" charset="-122"/>
                          <a:cs typeface="Arial" pitchFamily="34" charset="-120"/>
                        </a:rPr>
                        <a:t>Own profile, own competency record, own training schedule and certificates</a:t>
                      </a:r>
                      <a:endParaRPr lang="en-US" sz="1200" dirty="0">
                        <a:latin typeface="Arial" charset="0"/>
                        <a:ea typeface="Arial" charset="0"/>
                        <a:cs typeface="Arial" charset="0"/>
                      </a:endParaRPr>
                    </a:p>
                  </a:txBody>
                  <a:tcPr marL="127000" marR="127000" marT="76200" marB="76200" anchor="ctr">
                    <a:lnL w="9525" cap="flat" cmpd="sng" algn="ctr">
                      <a:solidFill>
                        <a:srgbClr val="DCEAEE"/>
                      </a:solidFill>
                      <a:prstDash val="solid"/>
                      <a:round/>
                      <a:headEnd type="none" w="med" len="med"/>
                      <a:tailEnd type="none" w="med" len="med"/>
                    </a:lnL>
                    <a:lnR w="9525" cap="flat" cmpd="sng" algn="ctr">
                      <a:solidFill>
                        <a:srgbClr val="DCEAEE"/>
                      </a:solidFill>
                      <a:prstDash val="solid"/>
                      <a:round/>
                      <a:headEnd type="none" w="med" len="med"/>
                      <a:tailEnd type="none" w="med" len="med"/>
                    </a:lnR>
                    <a:lnT w="9525" cap="flat" cmpd="sng" algn="ctr">
                      <a:solidFill>
                        <a:srgbClr val="DCEAEE"/>
                      </a:solidFill>
                      <a:prstDash val="solid"/>
                      <a:round/>
                      <a:headEnd type="none" w="med" len="med"/>
                      <a:tailEnd type="none" w="med" len="med"/>
                    </a:lnT>
                    <a:lnB w="9525" cap="flat" cmpd="sng" algn="ctr">
                      <a:solidFill>
                        <a:srgbClr val="DCEAEE"/>
                      </a:solidFill>
                      <a:prstDash val="solid"/>
                      <a:round/>
                      <a:headEnd type="none" w="med" len="med"/>
                      <a:tailEnd type="none" w="med" len="med"/>
                    </a:lnB>
                    <a:solidFill>
                      <a:srgbClr val="EAFBFF"/>
                    </a:solidFill>
                  </a:tcPr>
                </a:tc>
              </a:tr>
            </a:tbl>
          </a:graphicData>
        </a:graphic>
      </p:graphicFrame>
      <p:sp>
        <p:nvSpPr>
          <p:cNvPr id="6" name="Shape 3"/>
          <p:cNvSpPr/>
          <p:nvPr/>
        </p:nvSpPr>
        <p:spPr>
          <a:xfrm>
            <a:off x="548640" y="4663440"/>
            <a:ext cx="45720" cy="1005840"/>
          </a:xfrm>
          <a:prstGeom prst="rect">
            <a:avLst/>
          </a:prstGeom>
          <a:solidFill>
            <a:srgbClr val="D97B3F"/>
          </a:solidFill>
          <a:ln/>
        </p:spPr>
      </p:sp>
      <p:sp>
        <p:nvSpPr>
          <p:cNvPr id="7" name="Text 4"/>
          <p:cNvSpPr/>
          <p:nvPr/>
        </p:nvSpPr>
        <p:spPr>
          <a:xfrm>
            <a:off x="749808" y="4663440"/>
            <a:ext cx="10863072" cy="1005840"/>
          </a:xfrm>
          <a:prstGeom prst="rect">
            <a:avLst/>
          </a:prstGeom>
          <a:noFill/>
          <a:ln/>
        </p:spPr>
        <p:txBody>
          <a:bodyPr wrap="square" rtlCol="0" anchor="t"/>
          <a:lstStyle/>
          <a:p>
            <a:pPr indent="0" marL="0">
              <a:lnSpc>
                <a:spcPts val="1500"/>
              </a:lnSpc>
              <a:buNone/>
            </a:pPr>
            <a:r>
              <a:rPr lang="en-US" sz="1200" i="1" dirty="0">
                <a:solidFill>
                  <a:srgbClr val="5B6B72"/>
                </a:solidFill>
                <a:latin typeface="Arial" pitchFamily="34" charset="0"/>
                <a:ea typeface="Arial" pitchFamily="34" charset="-122"/>
                <a:cs typeface="Arial" pitchFamily="34" charset="-120"/>
              </a:rPr>
              <a:t>Exact role hierarchy will be finalized with NEIPL during discovery. Alongside roles, the system maintains an audit trail of key actions — assessment updates, score entries, training assignments, employee record changes, template changes, and approvals.</a:t>
            </a:r>
            <a:endParaRPr lang="en-US" sz="1200" dirty="0"/>
          </a:p>
        </p:txBody>
      </p:sp>
      <p:sp>
        <p:nvSpPr>
          <p:cNvPr id="8" name="Text 5"/>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9"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16</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Multi-Site Management &amp; Data Migration</a:t>
            </a:r>
            <a:endParaRPr lang="en-US" sz="27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400" dirty="0">
                <a:solidFill>
                  <a:srgbClr val="17262A"/>
                </a:solidFill>
                <a:latin typeface="Arial" pitchFamily="34" charset="0"/>
                <a:ea typeface="Arial" pitchFamily="34" charset="-122"/>
                <a:cs typeface="Arial" pitchFamily="34" charset="-120"/>
              </a:rPr>
              <a:t>Centralized management across all NEIPL project sites, structured as a simple hierarchy:</a:t>
            </a:r>
            <a:endParaRPr lang="en-US" sz="1400" dirty="0"/>
          </a:p>
        </p:txBody>
      </p:sp>
      <p:sp>
        <p:nvSpPr>
          <p:cNvPr id="5" name="Shape 3"/>
          <p:cNvSpPr/>
          <p:nvPr/>
        </p:nvSpPr>
        <p:spPr>
          <a:xfrm>
            <a:off x="548640" y="2011680"/>
            <a:ext cx="2086661" cy="914400"/>
          </a:xfrm>
          <a:prstGeom prst="roundRect">
            <a:avLst>
              <a:gd name="adj" fmla="val 6000"/>
            </a:avLst>
          </a:prstGeom>
          <a:solidFill>
            <a:srgbClr val="EAFBFF"/>
          </a:solidFill>
          <a:ln w="12700">
            <a:solidFill>
              <a:srgbClr val="1596B0"/>
            </a:solidFill>
            <a:prstDash val="solid"/>
          </a:ln>
        </p:spPr>
      </p:sp>
      <p:sp>
        <p:nvSpPr>
          <p:cNvPr id="6" name="Text 4"/>
          <p:cNvSpPr/>
          <p:nvPr/>
        </p:nvSpPr>
        <p:spPr>
          <a:xfrm>
            <a:off x="621792" y="201168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Organization</a:t>
            </a:r>
            <a:endParaRPr lang="en-US" sz="1250" dirty="0"/>
          </a:p>
        </p:txBody>
      </p:sp>
      <p:sp>
        <p:nvSpPr>
          <p:cNvPr id="7" name="Text 5"/>
          <p:cNvSpPr/>
          <p:nvPr/>
        </p:nvSpPr>
        <p:spPr>
          <a:xfrm>
            <a:off x="2635301" y="201168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2799893" y="2011680"/>
            <a:ext cx="2086661" cy="914400"/>
          </a:xfrm>
          <a:prstGeom prst="roundRect">
            <a:avLst>
              <a:gd name="adj" fmla="val 6000"/>
            </a:avLst>
          </a:prstGeom>
          <a:solidFill>
            <a:srgbClr val="EAFBFF"/>
          </a:solidFill>
          <a:ln w="12700">
            <a:solidFill>
              <a:srgbClr val="1596B0"/>
            </a:solidFill>
            <a:prstDash val="solid"/>
          </a:ln>
        </p:spPr>
      </p:sp>
      <p:sp>
        <p:nvSpPr>
          <p:cNvPr id="9" name="Text 7"/>
          <p:cNvSpPr/>
          <p:nvPr/>
        </p:nvSpPr>
        <p:spPr>
          <a:xfrm>
            <a:off x="2873045" y="201168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Site</a:t>
            </a:r>
            <a:endParaRPr lang="en-US" sz="1250" dirty="0"/>
          </a:p>
        </p:txBody>
      </p:sp>
      <p:sp>
        <p:nvSpPr>
          <p:cNvPr id="10" name="Text 8"/>
          <p:cNvSpPr/>
          <p:nvPr/>
        </p:nvSpPr>
        <p:spPr>
          <a:xfrm>
            <a:off x="4886554" y="201168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5051146" y="2011680"/>
            <a:ext cx="2086661" cy="914400"/>
          </a:xfrm>
          <a:prstGeom prst="roundRect">
            <a:avLst>
              <a:gd name="adj" fmla="val 6000"/>
            </a:avLst>
          </a:prstGeom>
          <a:solidFill>
            <a:srgbClr val="EAFBFF"/>
          </a:solidFill>
          <a:ln w="12700">
            <a:solidFill>
              <a:srgbClr val="1596B0"/>
            </a:solidFill>
            <a:prstDash val="solid"/>
          </a:ln>
        </p:spPr>
      </p:sp>
      <p:sp>
        <p:nvSpPr>
          <p:cNvPr id="12" name="Text 10"/>
          <p:cNvSpPr/>
          <p:nvPr/>
        </p:nvSpPr>
        <p:spPr>
          <a:xfrm>
            <a:off x="5124298" y="201168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Department</a:t>
            </a:r>
            <a:endParaRPr lang="en-US" sz="1250" dirty="0"/>
          </a:p>
        </p:txBody>
      </p:sp>
      <p:sp>
        <p:nvSpPr>
          <p:cNvPr id="13" name="Text 11"/>
          <p:cNvSpPr/>
          <p:nvPr/>
        </p:nvSpPr>
        <p:spPr>
          <a:xfrm>
            <a:off x="7137806" y="201168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7302398" y="2011680"/>
            <a:ext cx="2086661" cy="914400"/>
          </a:xfrm>
          <a:prstGeom prst="roundRect">
            <a:avLst>
              <a:gd name="adj" fmla="val 6000"/>
            </a:avLst>
          </a:prstGeom>
          <a:solidFill>
            <a:srgbClr val="EAFBFF"/>
          </a:solidFill>
          <a:ln w="12700">
            <a:solidFill>
              <a:srgbClr val="1596B0"/>
            </a:solidFill>
            <a:prstDash val="solid"/>
          </a:ln>
        </p:spPr>
      </p:sp>
      <p:sp>
        <p:nvSpPr>
          <p:cNvPr id="15" name="Text 13"/>
          <p:cNvSpPr/>
          <p:nvPr/>
        </p:nvSpPr>
        <p:spPr>
          <a:xfrm>
            <a:off x="7375550" y="201168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Job Category</a:t>
            </a:r>
            <a:endParaRPr lang="en-US" sz="1250" dirty="0"/>
          </a:p>
        </p:txBody>
      </p:sp>
      <p:sp>
        <p:nvSpPr>
          <p:cNvPr id="16" name="Text 14"/>
          <p:cNvSpPr/>
          <p:nvPr/>
        </p:nvSpPr>
        <p:spPr>
          <a:xfrm>
            <a:off x="9389059" y="2011680"/>
            <a:ext cx="164592" cy="914400"/>
          </a:xfrm>
          <a:prstGeom prst="rect">
            <a:avLst/>
          </a:prstGeom>
          <a:noFill/>
          <a:ln/>
        </p:spPr>
        <p:txBody>
          <a:bodyPr wrap="square" rtlCol="0" anchor="ctr"/>
          <a:lstStyle/>
          <a:p>
            <a:pPr algn="ctr" indent="0" marL="0">
              <a:buNone/>
            </a:pPr>
            <a:r>
              <a:rPr lang="en-US" sz="1500" dirty="0">
                <a:solidFill>
                  <a:srgbClr val="5B6B72"/>
                </a:solidFill>
                <a:latin typeface="Arial" pitchFamily="34" charset="0"/>
                <a:ea typeface="Arial" pitchFamily="34" charset="-122"/>
                <a:cs typeface="Arial" pitchFamily="34" charset="-120"/>
              </a:rPr>
              <a:t>→</a:t>
            </a:r>
            <a:endParaRPr lang="en-US" sz="1500" dirty="0"/>
          </a:p>
        </p:txBody>
      </p:sp>
      <p:sp>
        <p:nvSpPr>
          <p:cNvPr id="17" name="Shape 15"/>
          <p:cNvSpPr/>
          <p:nvPr/>
        </p:nvSpPr>
        <p:spPr>
          <a:xfrm>
            <a:off x="9553651" y="2011680"/>
            <a:ext cx="2086661" cy="914400"/>
          </a:xfrm>
          <a:prstGeom prst="roundRect">
            <a:avLst>
              <a:gd name="adj" fmla="val 6000"/>
            </a:avLst>
          </a:prstGeom>
          <a:solidFill>
            <a:srgbClr val="FBE9DC"/>
          </a:solidFill>
          <a:ln w="12700">
            <a:solidFill>
              <a:srgbClr val="D97B3F"/>
            </a:solidFill>
            <a:prstDash val="solid"/>
          </a:ln>
        </p:spPr>
      </p:sp>
      <p:sp>
        <p:nvSpPr>
          <p:cNvPr id="18" name="Text 16"/>
          <p:cNvSpPr/>
          <p:nvPr/>
        </p:nvSpPr>
        <p:spPr>
          <a:xfrm>
            <a:off x="9626803" y="2011680"/>
            <a:ext cx="1940357" cy="914400"/>
          </a:xfrm>
          <a:prstGeom prst="rect">
            <a:avLst/>
          </a:prstGeom>
          <a:noFill/>
          <a:ln/>
        </p:spPr>
        <p:txBody>
          <a:bodyPr wrap="square" rtlCol="0" anchor="ctr"/>
          <a:lstStyle/>
          <a:p>
            <a:pPr algn="ctr" indent="0" marL="0">
              <a:lnSpc>
                <a:spcPts val="1500"/>
              </a:lnSpc>
              <a:buNone/>
            </a:pPr>
            <a:r>
              <a:rPr lang="en-US" sz="1250" b="1" dirty="0">
                <a:solidFill>
                  <a:srgbClr val="0A0F10"/>
                </a:solidFill>
                <a:latin typeface="Arial" pitchFamily="34" charset="0"/>
                <a:ea typeface="Arial" pitchFamily="34" charset="-122"/>
                <a:cs typeface="Arial" pitchFamily="34" charset="-120"/>
              </a:rPr>
              <a:t>Employee</a:t>
            </a:r>
            <a:endParaRPr lang="en-US" sz="1250" dirty="0"/>
          </a:p>
        </p:txBody>
      </p:sp>
      <p:sp>
        <p:nvSpPr>
          <p:cNvPr id="19" name="Text 17"/>
          <p:cNvSpPr/>
          <p:nvPr/>
        </p:nvSpPr>
        <p:spPr>
          <a:xfrm>
            <a:off x="548640" y="3291840"/>
            <a:ext cx="5486400" cy="365760"/>
          </a:xfrm>
          <a:prstGeom prst="rect">
            <a:avLst/>
          </a:prstGeom>
          <a:noFill/>
          <a:ln/>
        </p:spPr>
        <p:txBody>
          <a:bodyPr wrap="square" rtlCol="0" anchor="ctr"/>
          <a:lstStyle/>
          <a:p>
            <a:pPr indent="0" marL="0">
              <a:buNone/>
            </a:pPr>
            <a:r>
              <a:rPr lang="en-US" sz="1500" b="1" dirty="0">
                <a:solidFill>
                  <a:srgbClr val="0E7490"/>
                </a:solidFill>
                <a:latin typeface="Arial" pitchFamily="34" charset="0"/>
                <a:ea typeface="Arial" pitchFamily="34" charset="-122"/>
                <a:cs typeface="Arial" pitchFamily="34" charset="-120"/>
              </a:rPr>
              <a:t>Data Migration</a:t>
            </a:r>
            <a:endParaRPr lang="en-US" sz="1500" dirty="0"/>
          </a:p>
        </p:txBody>
      </p:sp>
      <p:sp>
        <p:nvSpPr>
          <p:cNvPr id="20" name="Text 18"/>
          <p:cNvSpPr/>
          <p:nvPr/>
        </p:nvSpPr>
        <p:spPr>
          <a:xfrm>
            <a:off x="548640" y="3703320"/>
            <a:ext cx="11064240" cy="1188720"/>
          </a:xfrm>
          <a:prstGeom prst="rect">
            <a:avLst/>
          </a:prstGeom>
          <a:noFill/>
          <a:ln/>
        </p:spPr>
        <p:txBody>
          <a:bodyPr wrap="square" rtlCol="0" anchor="ctr"/>
          <a:lstStyle/>
          <a:p>
            <a:pPr indent="0" marL="0">
              <a:lnSpc>
                <a:spcPts val="1900"/>
              </a:lnSpc>
              <a:buNone/>
            </a:pPr>
            <a:r>
              <a:rPr lang="en-US" sz="1350" dirty="0">
                <a:solidFill>
                  <a:srgbClr val="17262A"/>
                </a:solidFill>
                <a:latin typeface="Arial" pitchFamily="34" charset="0"/>
                <a:ea typeface="Arial" pitchFamily="34" charset="-122"/>
                <a:cs typeface="Arial" pitchFamily="34" charset="-120"/>
              </a:rPr>
              <a:t>NEIPL's existing records are Excel-based. We can consider migrating this historical data into the platform, subject to a review of its format, quality, and completeness. We are not committing to a full migration until the actual data has been reviewed and validated together with NEIPL.</a:t>
            </a:r>
            <a:endParaRPr lang="en-US" sz="1350" dirty="0"/>
          </a:p>
        </p:txBody>
      </p:sp>
      <p:sp>
        <p:nvSpPr>
          <p:cNvPr id="21" name="Text 19"/>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2" name="Text 2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0"/>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8BE3FD"/>
                </a:solidFill>
                <a:latin typeface="Arial" pitchFamily="34" charset="0"/>
                <a:ea typeface="Arial" pitchFamily="34" charset="-122"/>
                <a:cs typeface="Arial" pitchFamily="34" charset="-120"/>
              </a:rPr>
              <a:t>SECTION 17</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Implementation Approach</a:t>
            </a:r>
            <a:endParaRPr lang="en-US" sz="2700" dirty="0"/>
          </a:p>
        </p:txBody>
      </p:sp>
      <p:sp>
        <p:nvSpPr>
          <p:cNvPr id="4" name="Text 2"/>
          <p:cNvSpPr/>
          <p:nvPr/>
        </p:nvSpPr>
        <p:spPr>
          <a:xfrm>
            <a:off x="548640" y="1417320"/>
            <a:ext cx="11064240" cy="411480"/>
          </a:xfrm>
          <a:prstGeom prst="rect">
            <a:avLst/>
          </a:prstGeom>
          <a:noFill/>
          <a:ln/>
        </p:spPr>
        <p:txBody>
          <a:bodyPr wrap="square" rtlCol="0" anchor="ctr"/>
          <a:lstStyle/>
          <a:p>
            <a:pPr indent="0" marL="0">
              <a:buNone/>
            </a:pPr>
            <a:r>
              <a:rPr lang="en-US" sz="1300" dirty="0">
                <a:solidFill>
                  <a:srgbClr val="C9DEDF"/>
                </a:solidFill>
                <a:latin typeface="Arial" pitchFamily="34" charset="0"/>
                <a:ea typeface="Arial" pitchFamily="34" charset="-122"/>
                <a:cs typeface="Arial" pitchFamily="34" charset="-120"/>
              </a:rPr>
              <a:t>An illustrative sequence — actual timelines will be scoped once discovery items are finalized.</a:t>
            </a:r>
            <a:endParaRPr lang="en-US" sz="1300" dirty="0"/>
          </a:p>
        </p:txBody>
      </p:sp>
      <p:sp>
        <p:nvSpPr>
          <p:cNvPr id="5" name="Shape 3"/>
          <p:cNvSpPr/>
          <p:nvPr/>
        </p:nvSpPr>
        <p:spPr>
          <a:xfrm>
            <a:off x="548640" y="2194560"/>
            <a:ext cx="2084832" cy="2651760"/>
          </a:xfrm>
          <a:prstGeom prst="roundRect">
            <a:avLst>
              <a:gd name="adj" fmla="val 3070"/>
            </a:avLst>
          </a:prstGeom>
          <a:solidFill>
            <a:srgbClr val="16282C"/>
          </a:solidFill>
          <a:ln w="9525">
            <a:solidFill>
              <a:srgbClr val="1596B0"/>
            </a:solidFill>
            <a:prstDash val="solid"/>
          </a:ln>
        </p:spPr>
      </p:sp>
      <p:sp>
        <p:nvSpPr>
          <p:cNvPr id="6" name="Text 4"/>
          <p:cNvSpPr/>
          <p:nvPr/>
        </p:nvSpPr>
        <p:spPr>
          <a:xfrm>
            <a:off x="713232" y="2377440"/>
            <a:ext cx="1371600" cy="502920"/>
          </a:xfrm>
          <a:prstGeom prst="rect">
            <a:avLst/>
          </a:prstGeom>
          <a:noFill/>
          <a:ln/>
        </p:spPr>
        <p:txBody>
          <a:bodyPr wrap="square" rtlCol="0" anchor="ctr"/>
          <a:lstStyle/>
          <a:p>
            <a:pPr indent="0" marL="0">
              <a:buNone/>
            </a:pPr>
            <a:r>
              <a:rPr lang="en-US" sz="2200" b="1" dirty="0">
                <a:solidFill>
                  <a:srgbClr val="8BE3FD"/>
                </a:solidFill>
                <a:latin typeface="Arial" pitchFamily="34" charset="0"/>
                <a:ea typeface="Arial" pitchFamily="34" charset="-122"/>
                <a:cs typeface="Arial" pitchFamily="34" charset="-120"/>
              </a:rPr>
              <a:t>01</a:t>
            </a:r>
            <a:endParaRPr lang="en-US" sz="2200" dirty="0"/>
          </a:p>
        </p:txBody>
      </p:sp>
      <p:sp>
        <p:nvSpPr>
          <p:cNvPr id="7" name="Text 5"/>
          <p:cNvSpPr/>
          <p:nvPr/>
        </p:nvSpPr>
        <p:spPr>
          <a:xfrm>
            <a:off x="713232" y="2926080"/>
            <a:ext cx="1764792"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Discovery</a:t>
            </a:r>
            <a:endParaRPr lang="en-US" sz="1400" dirty="0"/>
          </a:p>
        </p:txBody>
      </p:sp>
      <p:sp>
        <p:nvSpPr>
          <p:cNvPr id="8" name="Text 6"/>
          <p:cNvSpPr/>
          <p:nvPr/>
        </p:nvSpPr>
        <p:spPr>
          <a:xfrm>
            <a:off x="713232" y="3337560"/>
            <a:ext cx="1764792" cy="1371600"/>
          </a:xfrm>
          <a:prstGeom prst="rect">
            <a:avLst/>
          </a:prstGeom>
          <a:noFill/>
          <a:ln/>
        </p:spPr>
        <p:txBody>
          <a:bodyPr wrap="square" rtlCol="0" anchor="ctr"/>
          <a:lstStyle/>
          <a:p>
            <a:pPr indent="0" marL="0">
              <a:lnSpc>
                <a:spcPts val="1400"/>
              </a:lnSpc>
              <a:buNone/>
            </a:pPr>
            <a:r>
              <a:rPr lang="en-US" sz="1050" dirty="0">
                <a:solidFill>
                  <a:srgbClr val="AFC9CC"/>
                </a:solidFill>
                <a:latin typeface="Arial" pitchFamily="34" charset="0"/>
                <a:ea typeface="Arial" pitchFamily="34" charset="-122"/>
                <a:cs typeface="Arial" pitchFamily="34" charset="-120"/>
              </a:rPr>
              <a:t>Finalize job categories, framework, scale, sites, languages</a:t>
            </a:r>
            <a:endParaRPr lang="en-US" sz="1050" dirty="0"/>
          </a:p>
        </p:txBody>
      </p:sp>
      <p:sp>
        <p:nvSpPr>
          <p:cNvPr id="9" name="Shape 7"/>
          <p:cNvSpPr/>
          <p:nvPr/>
        </p:nvSpPr>
        <p:spPr>
          <a:xfrm>
            <a:off x="2770632" y="2194560"/>
            <a:ext cx="2084832" cy="2651760"/>
          </a:xfrm>
          <a:prstGeom prst="roundRect">
            <a:avLst>
              <a:gd name="adj" fmla="val 3070"/>
            </a:avLst>
          </a:prstGeom>
          <a:solidFill>
            <a:srgbClr val="16282C"/>
          </a:solidFill>
          <a:ln w="9525">
            <a:solidFill>
              <a:srgbClr val="1596B0"/>
            </a:solidFill>
            <a:prstDash val="solid"/>
          </a:ln>
        </p:spPr>
      </p:sp>
      <p:sp>
        <p:nvSpPr>
          <p:cNvPr id="10" name="Text 8"/>
          <p:cNvSpPr/>
          <p:nvPr/>
        </p:nvSpPr>
        <p:spPr>
          <a:xfrm>
            <a:off x="2935224" y="2377440"/>
            <a:ext cx="1371600" cy="502920"/>
          </a:xfrm>
          <a:prstGeom prst="rect">
            <a:avLst/>
          </a:prstGeom>
          <a:noFill/>
          <a:ln/>
        </p:spPr>
        <p:txBody>
          <a:bodyPr wrap="square" rtlCol="0" anchor="ctr"/>
          <a:lstStyle/>
          <a:p>
            <a:pPr indent="0" marL="0">
              <a:buNone/>
            </a:pPr>
            <a:r>
              <a:rPr lang="en-US" sz="2200" b="1" dirty="0">
                <a:solidFill>
                  <a:srgbClr val="8BE3FD"/>
                </a:solidFill>
                <a:latin typeface="Arial" pitchFamily="34" charset="0"/>
                <a:ea typeface="Arial" pitchFamily="34" charset="-122"/>
                <a:cs typeface="Arial" pitchFamily="34" charset="-120"/>
              </a:rPr>
              <a:t>02</a:t>
            </a:r>
            <a:endParaRPr lang="en-US" sz="2200" dirty="0"/>
          </a:p>
        </p:txBody>
      </p:sp>
      <p:sp>
        <p:nvSpPr>
          <p:cNvPr id="11" name="Text 9"/>
          <p:cNvSpPr/>
          <p:nvPr/>
        </p:nvSpPr>
        <p:spPr>
          <a:xfrm>
            <a:off x="2935224" y="2926080"/>
            <a:ext cx="1764792"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Design</a:t>
            </a:r>
            <a:endParaRPr lang="en-US" sz="1400" dirty="0"/>
          </a:p>
        </p:txBody>
      </p:sp>
      <p:sp>
        <p:nvSpPr>
          <p:cNvPr id="12" name="Text 10"/>
          <p:cNvSpPr/>
          <p:nvPr/>
        </p:nvSpPr>
        <p:spPr>
          <a:xfrm>
            <a:off x="2935224" y="3337560"/>
            <a:ext cx="1764792" cy="1371600"/>
          </a:xfrm>
          <a:prstGeom prst="rect">
            <a:avLst/>
          </a:prstGeom>
          <a:noFill/>
          <a:ln/>
        </p:spPr>
        <p:txBody>
          <a:bodyPr wrap="square" rtlCol="0" anchor="ctr"/>
          <a:lstStyle/>
          <a:p>
            <a:pPr indent="0" marL="0">
              <a:lnSpc>
                <a:spcPts val="1400"/>
              </a:lnSpc>
              <a:buNone/>
            </a:pPr>
            <a:r>
              <a:rPr lang="en-US" sz="1050" dirty="0">
                <a:solidFill>
                  <a:srgbClr val="AFC9CC"/>
                </a:solidFill>
                <a:latin typeface="Arial" pitchFamily="34" charset="0"/>
                <a:ea typeface="Arial" pitchFamily="34" charset="-122"/>
                <a:cs typeface="Arial" pitchFamily="34" charset="-120"/>
              </a:rPr>
              <a:t>Solution design, screens, data model, review with NEIPL</a:t>
            </a:r>
            <a:endParaRPr lang="en-US" sz="1050" dirty="0"/>
          </a:p>
        </p:txBody>
      </p:sp>
      <p:sp>
        <p:nvSpPr>
          <p:cNvPr id="13" name="Shape 11"/>
          <p:cNvSpPr/>
          <p:nvPr/>
        </p:nvSpPr>
        <p:spPr>
          <a:xfrm>
            <a:off x="4992624" y="2194560"/>
            <a:ext cx="2084832" cy="2651760"/>
          </a:xfrm>
          <a:prstGeom prst="roundRect">
            <a:avLst>
              <a:gd name="adj" fmla="val 3070"/>
            </a:avLst>
          </a:prstGeom>
          <a:solidFill>
            <a:srgbClr val="16282C"/>
          </a:solidFill>
          <a:ln w="9525">
            <a:solidFill>
              <a:srgbClr val="1596B0"/>
            </a:solidFill>
            <a:prstDash val="solid"/>
          </a:ln>
        </p:spPr>
      </p:sp>
      <p:sp>
        <p:nvSpPr>
          <p:cNvPr id="14" name="Text 12"/>
          <p:cNvSpPr/>
          <p:nvPr/>
        </p:nvSpPr>
        <p:spPr>
          <a:xfrm>
            <a:off x="5157216" y="2377440"/>
            <a:ext cx="1371600" cy="502920"/>
          </a:xfrm>
          <a:prstGeom prst="rect">
            <a:avLst/>
          </a:prstGeom>
          <a:noFill/>
          <a:ln/>
        </p:spPr>
        <p:txBody>
          <a:bodyPr wrap="square" rtlCol="0" anchor="ctr"/>
          <a:lstStyle/>
          <a:p>
            <a:pPr indent="0" marL="0">
              <a:buNone/>
            </a:pPr>
            <a:r>
              <a:rPr lang="en-US" sz="2200" b="1" dirty="0">
                <a:solidFill>
                  <a:srgbClr val="8BE3FD"/>
                </a:solidFill>
                <a:latin typeface="Arial" pitchFamily="34" charset="0"/>
                <a:ea typeface="Arial" pitchFamily="34" charset="-122"/>
                <a:cs typeface="Arial" pitchFamily="34" charset="-120"/>
              </a:rPr>
              <a:t>03</a:t>
            </a:r>
            <a:endParaRPr lang="en-US" sz="2200" dirty="0"/>
          </a:p>
        </p:txBody>
      </p:sp>
      <p:sp>
        <p:nvSpPr>
          <p:cNvPr id="15" name="Text 13"/>
          <p:cNvSpPr/>
          <p:nvPr/>
        </p:nvSpPr>
        <p:spPr>
          <a:xfrm>
            <a:off x="5157216" y="2926080"/>
            <a:ext cx="1764792"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Development</a:t>
            </a:r>
            <a:endParaRPr lang="en-US" sz="1400" dirty="0"/>
          </a:p>
        </p:txBody>
      </p:sp>
      <p:sp>
        <p:nvSpPr>
          <p:cNvPr id="16" name="Text 14"/>
          <p:cNvSpPr/>
          <p:nvPr/>
        </p:nvSpPr>
        <p:spPr>
          <a:xfrm>
            <a:off x="5157216" y="3337560"/>
            <a:ext cx="1764792" cy="1371600"/>
          </a:xfrm>
          <a:prstGeom prst="rect">
            <a:avLst/>
          </a:prstGeom>
          <a:noFill/>
          <a:ln/>
        </p:spPr>
        <p:txBody>
          <a:bodyPr wrap="square" rtlCol="0" anchor="ctr"/>
          <a:lstStyle/>
          <a:p>
            <a:pPr indent="0" marL="0">
              <a:lnSpc>
                <a:spcPts val="1400"/>
              </a:lnSpc>
              <a:buNone/>
            </a:pPr>
            <a:r>
              <a:rPr lang="en-US" sz="1050" dirty="0">
                <a:solidFill>
                  <a:srgbClr val="AFC9CC"/>
                </a:solidFill>
                <a:latin typeface="Arial" pitchFamily="34" charset="0"/>
                <a:ea typeface="Arial" pitchFamily="34" charset="-122"/>
                <a:cs typeface="Arial" pitchFamily="34" charset="-120"/>
              </a:rPr>
              <a:t>Build in phases with regular check-ins</a:t>
            </a:r>
            <a:endParaRPr lang="en-US" sz="1050" dirty="0"/>
          </a:p>
        </p:txBody>
      </p:sp>
      <p:sp>
        <p:nvSpPr>
          <p:cNvPr id="17" name="Shape 15"/>
          <p:cNvSpPr/>
          <p:nvPr/>
        </p:nvSpPr>
        <p:spPr>
          <a:xfrm>
            <a:off x="7214616" y="2194560"/>
            <a:ext cx="2084832" cy="2651760"/>
          </a:xfrm>
          <a:prstGeom prst="roundRect">
            <a:avLst>
              <a:gd name="adj" fmla="val 3070"/>
            </a:avLst>
          </a:prstGeom>
          <a:solidFill>
            <a:srgbClr val="16282C"/>
          </a:solidFill>
          <a:ln w="9525">
            <a:solidFill>
              <a:srgbClr val="1596B0"/>
            </a:solidFill>
            <a:prstDash val="solid"/>
          </a:ln>
        </p:spPr>
      </p:sp>
      <p:sp>
        <p:nvSpPr>
          <p:cNvPr id="18" name="Text 16"/>
          <p:cNvSpPr/>
          <p:nvPr/>
        </p:nvSpPr>
        <p:spPr>
          <a:xfrm>
            <a:off x="7379208" y="2377440"/>
            <a:ext cx="1371600" cy="502920"/>
          </a:xfrm>
          <a:prstGeom prst="rect">
            <a:avLst/>
          </a:prstGeom>
          <a:noFill/>
          <a:ln/>
        </p:spPr>
        <p:txBody>
          <a:bodyPr wrap="square" rtlCol="0" anchor="ctr"/>
          <a:lstStyle/>
          <a:p>
            <a:pPr indent="0" marL="0">
              <a:buNone/>
            </a:pPr>
            <a:r>
              <a:rPr lang="en-US" sz="2200" b="1" dirty="0">
                <a:solidFill>
                  <a:srgbClr val="8BE3FD"/>
                </a:solidFill>
                <a:latin typeface="Arial" pitchFamily="34" charset="0"/>
                <a:ea typeface="Arial" pitchFamily="34" charset="-122"/>
                <a:cs typeface="Arial" pitchFamily="34" charset="-120"/>
              </a:rPr>
              <a:t>04</a:t>
            </a:r>
            <a:endParaRPr lang="en-US" sz="2200" dirty="0"/>
          </a:p>
        </p:txBody>
      </p:sp>
      <p:sp>
        <p:nvSpPr>
          <p:cNvPr id="19" name="Text 17"/>
          <p:cNvSpPr/>
          <p:nvPr/>
        </p:nvSpPr>
        <p:spPr>
          <a:xfrm>
            <a:off x="7379208" y="2926080"/>
            <a:ext cx="1764792"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UAT</a:t>
            </a:r>
            <a:endParaRPr lang="en-US" sz="1400" dirty="0"/>
          </a:p>
        </p:txBody>
      </p:sp>
      <p:sp>
        <p:nvSpPr>
          <p:cNvPr id="20" name="Text 18"/>
          <p:cNvSpPr/>
          <p:nvPr/>
        </p:nvSpPr>
        <p:spPr>
          <a:xfrm>
            <a:off x="7379208" y="3337560"/>
            <a:ext cx="1764792" cy="1371600"/>
          </a:xfrm>
          <a:prstGeom prst="rect">
            <a:avLst/>
          </a:prstGeom>
          <a:noFill/>
          <a:ln/>
        </p:spPr>
        <p:txBody>
          <a:bodyPr wrap="square" rtlCol="0" anchor="ctr"/>
          <a:lstStyle/>
          <a:p>
            <a:pPr indent="0" marL="0">
              <a:lnSpc>
                <a:spcPts val="1400"/>
              </a:lnSpc>
              <a:buNone/>
            </a:pPr>
            <a:r>
              <a:rPr lang="en-US" sz="1050" dirty="0">
                <a:solidFill>
                  <a:srgbClr val="AFC9CC"/>
                </a:solidFill>
                <a:latin typeface="Arial" pitchFamily="34" charset="0"/>
                <a:ea typeface="Arial" pitchFamily="34" charset="-122"/>
                <a:cs typeface="Arial" pitchFamily="34" charset="-120"/>
              </a:rPr>
              <a:t>NEIPL testing, feedback, refinement</a:t>
            </a:r>
            <a:endParaRPr lang="en-US" sz="1050" dirty="0"/>
          </a:p>
        </p:txBody>
      </p:sp>
      <p:sp>
        <p:nvSpPr>
          <p:cNvPr id="21" name="Shape 19"/>
          <p:cNvSpPr/>
          <p:nvPr/>
        </p:nvSpPr>
        <p:spPr>
          <a:xfrm>
            <a:off x="9436608" y="2194560"/>
            <a:ext cx="2084832" cy="2651760"/>
          </a:xfrm>
          <a:prstGeom prst="roundRect">
            <a:avLst>
              <a:gd name="adj" fmla="val 3070"/>
            </a:avLst>
          </a:prstGeom>
          <a:solidFill>
            <a:srgbClr val="16282C"/>
          </a:solidFill>
          <a:ln w="9525">
            <a:solidFill>
              <a:srgbClr val="1596B0"/>
            </a:solidFill>
            <a:prstDash val="solid"/>
          </a:ln>
        </p:spPr>
      </p:sp>
      <p:sp>
        <p:nvSpPr>
          <p:cNvPr id="22" name="Text 20"/>
          <p:cNvSpPr/>
          <p:nvPr/>
        </p:nvSpPr>
        <p:spPr>
          <a:xfrm>
            <a:off x="9601200" y="2377440"/>
            <a:ext cx="1371600" cy="502920"/>
          </a:xfrm>
          <a:prstGeom prst="rect">
            <a:avLst/>
          </a:prstGeom>
          <a:noFill/>
          <a:ln/>
        </p:spPr>
        <p:txBody>
          <a:bodyPr wrap="square" rtlCol="0" anchor="ctr"/>
          <a:lstStyle/>
          <a:p>
            <a:pPr indent="0" marL="0">
              <a:buNone/>
            </a:pPr>
            <a:r>
              <a:rPr lang="en-US" sz="2200" b="1" dirty="0">
                <a:solidFill>
                  <a:srgbClr val="8BE3FD"/>
                </a:solidFill>
                <a:latin typeface="Arial" pitchFamily="34" charset="0"/>
                <a:ea typeface="Arial" pitchFamily="34" charset="-122"/>
                <a:cs typeface="Arial" pitchFamily="34" charset="-120"/>
              </a:rPr>
              <a:t>05</a:t>
            </a:r>
            <a:endParaRPr lang="en-US" sz="2200" dirty="0"/>
          </a:p>
        </p:txBody>
      </p:sp>
      <p:sp>
        <p:nvSpPr>
          <p:cNvPr id="23" name="Text 21"/>
          <p:cNvSpPr/>
          <p:nvPr/>
        </p:nvSpPr>
        <p:spPr>
          <a:xfrm>
            <a:off x="9601200" y="2926080"/>
            <a:ext cx="1764792"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Deployment</a:t>
            </a:r>
            <a:endParaRPr lang="en-US" sz="1400" dirty="0"/>
          </a:p>
        </p:txBody>
      </p:sp>
      <p:sp>
        <p:nvSpPr>
          <p:cNvPr id="24" name="Text 22"/>
          <p:cNvSpPr/>
          <p:nvPr/>
        </p:nvSpPr>
        <p:spPr>
          <a:xfrm>
            <a:off x="9601200" y="3337560"/>
            <a:ext cx="1764792" cy="1371600"/>
          </a:xfrm>
          <a:prstGeom prst="rect">
            <a:avLst/>
          </a:prstGeom>
          <a:noFill/>
          <a:ln/>
        </p:spPr>
        <p:txBody>
          <a:bodyPr wrap="square" rtlCol="0" anchor="ctr"/>
          <a:lstStyle/>
          <a:p>
            <a:pPr indent="0" marL="0">
              <a:lnSpc>
                <a:spcPts val="1400"/>
              </a:lnSpc>
              <a:buNone/>
            </a:pPr>
            <a:r>
              <a:rPr lang="en-US" sz="1050" dirty="0">
                <a:solidFill>
                  <a:srgbClr val="AFC9CC"/>
                </a:solidFill>
                <a:latin typeface="Arial" pitchFamily="34" charset="0"/>
                <a:ea typeface="Arial" pitchFamily="34" charset="-122"/>
                <a:cs typeface="Arial" pitchFamily="34" charset="-120"/>
              </a:rPr>
              <a:t>Go-live, team onboarding, support handover</a:t>
            </a:r>
            <a:endParaRPr lang="en-US" sz="1050" dirty="0"/>
          </a:p>
        </p:txBody>
      </p:sp>
      <p:sp>
        <p:nvSpPr>
          <p:cNvPr id="25" name="Text 23"/>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26" name="Text 2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5486400" cy="292608"/>
          </a:xfrm>
          <a:prstGeom prst="rect">
            <a:avLst/>
          </a:prstGeom>
          <a:noFill/>
          <a:ln/>
        </p:spPr>
        <p:txBody>
          <a:bodyPr wrap="square" rtlCol="0" anchor="ctr"/>
          <a:lstStyle/>
          <a:p>
            <a:pPr indent="0" marL="0">
              <a:buNone/>
            </a:pPr>
            <a:r>
              <a:rPr lang="en-US" sz="1200" b="1" spc="200" kern="0" dirty="0">
                <a:solidFill>
                  <a:srgbClr val="0E7490"/>
                </a:solidFill>
                <a:latin typeface="Arial" pitchFamily="34" charset="0"/>
                <a:ea typeface="Arial" pitchFamily="34" charset="-122"/>
                <a:cs typeface="Arial" pitchFamily="34" charset="-120"/>
              </a:rPr>
              <a:t>SECTION 18</a:t>
            </a:r>
            <a:endParaRPr lang="en-US" sz="1200" dirty="0"/>
          </a:p>
        </p:txBody>
      </p:sp>
      <p:sp>
        <p:nvSpPr>
          <p:cNvPr id="3" name="Text 1"/>
          <p:cNvSpPr/>
          <p:nvPr/>
        </p:nvSpPr>
        <p:spPr>
          <a:xfrm>
            <a:off x="548640" y="658368"/>
            <a:ext cx="11064240" cy="566928"/>
          </a:xfrm>
          <a:prstGeom prst="rect">
            <a:avLst/>
          </a:prstGeom>
          <a:noFill/>
          <a:ln/>
        </p:spPr>
        <p:txBody>
          <a:bodyPr wrap="square" rtlCol="0" anchor="ctr"/>
          <a:lstStyle/>
          <a:p>
            <a:pPr indent="0" marL="0">
              <a:buNone/>
            </a:pPr>
            <a:r>
              <a:rPr lang="en-US" sz="2700" b="1" dirty="0">
                <a:solidFill>
                  <a:srgbClr val="0A0F10"/>
                </a:solidFill>
                <a:latin typeface="Arial" pitchFamily="34" charset="0"/>
                <a:ea typeface="Arial" pitchFamily="34" charset="-122"/>
                <a:cs typeface="Arial" pitchFamily="34" charset="-120"/>
              </a:rPr>
              <a:t>Items to Finalize During Discovery</a:t>
            </a:r>
            <a:endParaRPr lang="en-US" sz="27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ts val="1800"/>
              </a:lnSpc>
              <a:buNone/>
            </a:pPr>
            <a:r>
              <a:rPr lang="en-US" sz="1350" dirty="0">
                <a:solidFill>
                  <a:srgbClr val="17262A"/>
                </a:solidFill>
                <a:latin typeface="Arial" pitchFamily="34" charset="0"/>
                <a:ea typeface="Arial" pitchFamily="34" charset="-122"/>
                <a:cs typeface="Arial" pitchFamily="34" charset="-120"/>
              </a:rPr>
              <a:t>To move from this discussion document to a final technical scope and commercial quotation, we'd like to confirm:</a:t>
            </a:r>
            <a:endParaRPr lang="en-US" sz="1350" dirty="0"/>
          </a:p>
        </p:txBody>
      </p:sp>
      <p:sp>
        <p:nvSpPr>
          <p:cNvPr id="5" name="Text 3"/>
          <p:cNvSpPr/>
          <p:nvPr/>
        </p:nvSpPr>
        <p:spPr>
          <a:xfrm>
            <a:off x="548640" y="2057400"/>
            <a:ext cx="5394960" cy="4114800"/>
          </a:xfrm>
          <a:prstGeom prst="rect">
            <a:avLst/>
          </a:prstGeom>
          <a:noFill/>
          <a:ln/>
        </p:spPr>
        <p:txBody>
          <a:bodyPr wrap="square" rtlCol="0" anchor="t"/>
          <a:lstStyle/>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Complete job-category list</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Exact competency framework per category</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Exact scoring and weightage rules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Competency thresholds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Number of sites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Final employee scale</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Languages required</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Detailed training workflow</a:t>
            </a:r>
            <a:endParaRPr lang="en-US" sz="1250" dirty="0"/>
          </a:p>
        </p:txBody>
      </p:sp>
      <p:sp>
        <p:nvSpPr>
          <p:cNvPr id="6" name="Text 4"/>
          <p:cNvSpPr/>
          <p:nvPr/>
        </p:nvSpPr>
        <p:spPr>
          <a:xfrm>
            <a:off x="6126480" y="2057400"/>
            <a:ext cx="5394960" cy="4114800"/>
          </a:xfrm>
          <a:prstGeom prst="rect">
            <a:avLst/>
          </a:prstGeom>
          <a:noFill/>
          <a:ln/>
        </p:spPr>
        <p:txBody>
          <a:bodyPr wrap="square" rtlCol="0" anchor="t"/>
          <a:lstStyle/>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Reassessment rules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Certification rules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Exact video meeting requirements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Notification requirements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Data migration scope</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Final MIS / report formats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Hosting / deployment requirements</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Integrations, if any</a:t>
            </a:r>
            <a:endParaRPr lang="en-US" sz="1250" dirty="0"/>
          </a:p>
          <a:p>
            <a:pPr marL="228600" indent="-228600">
              <a:lnSpc>
                <a:spcPts val="1800"/>
              </a:lnSpc>
              <a:spcAft>
                <a:spcPts val="900"/>
              </a:spcAft>
              <a:buSzPct val="100000"/>
              <a:buChar char="•"/>
            </a:pPr>
            <a:r>
              <a:rPr lang="en-US" sz="1250" dirty="0">
                <a:solidFill>
                  <a:srgbClr val="17262A"/>
                </a:solidFill>
                <a:latin typeface="Arial" pitchFamily="34" charset="0"/>
                <a:ea typeface="Arial" pitchFamily="34" charset="-122"/>
                <a:cs typeface="Arial" pitchFamily="34" charset="-120"/>
              </a:rPr>
              <a:t>Detailed AI expectations &amp; available historical data</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indent="0" marL="0">
              <a:buNone/>
            </a:pPr>
            <a:r>
              <a:rPr lang="en-US" sz="900" dirty="0">
                <a:solidFill>
                  <a:srgbClr val="5B6B72"/>
                </a:solidFill>
                <a:latin typeface="Arial" pitchFamily="34" charset="0"/>
                <a:ea typeface="Arial" pitchFamily="34" charset="-122"/>
                <a:cs typeface="Arial" pitchFamily="34" charset="-120"/>
              </a:rPr>
              <a:t>NEIPL — Manpower Training &amp; Competency Management Platform</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2"/>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8BE3FD">
              <a:alpha val="7000"/>
            </a:srgbClr>
          </a:solidFill>
          <a:ln/>
        </p:spPr>
      </p:sp>
      <p:sp>
        <p:nvSpPr>
          <p:cNvPr id="3" name="Text 1"/>
          <p:cNvSpPr/>
          <p:nvPr/>
        </p:nvSpPr>
        <p:spPr>
          <a:xfrm>
            <a:off x="548640" y="594360"/>
            <a:ext cx="5486400" cy="292608"/>
          </a:xfrm>
          <a:prstGeom prst="rect">
            <a:avLst/>
          </a:prstGeom>
          <a:noFill/>
          <a:ln/>
        </p:spPr>
        <p:txBody>
          <a:bodyPr wrap="square" rtlCol="0" anchor="ctr"/>
          <a:lstStyle/>
          <a:p>
            <a:pPr indent="0" marL="0">
              <a:buNone/>
            </a:pPr>
            <a:r>
              <a:rPr lang="en-US" sz="1200" b="1" spc="200" kern="0" dirty="0">
                <a:solidFill>
                  <a:srgbClr val="8BE3FD"/>
                </a:solidFill>
                <a:latin typeface="Arial" pitchFamily="34" charset="0"/>
                <a:ea typeface="Arial" pitchFamily="34" charset="-122"/>
                <a:cs typeface="Arial" pitchFamily="34" charset="-120"/>
              </a:rPr>
              <a:t>SECTION 19</a:t>
            </a:r>
            <a:endParaRPr lang="en-US" sz="1200" dirty="0"/>
          </a:p>
        </p:txBody>
      </p:sp>
      <p:sp>
        <p:nvSpPr>
          <p:cNvPr id="4" name="Text 2"/>
          <p:cNvSpPr/>
          <p:nvPr/>
        </p:nvSpPr>
        <p:spPr>
          <a:xfrm>
            <a:off x="548640" y="886968"/>
            <a:ext cx="10972800" cy="59436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Next Steps / Discussion</a:t>
            </a:r>
            <a:endParaRPr lang="en-US" sz="2800" dirty="0"/>
          </a:p>
        </p:txBody>
      </p:sp>
      <p:sp>
        <p:nvSpPr>
          <p:cNvPr id="5" name="Text 3"/>
          <p:cNvSpPr/>
          <p:nvPr/>
        </p:nvSpPr>
        <p:spPr>
          <a:xfrm>
            <a:off x="548640" y="1691640"/>
            <a:ext cx="10789920" cy="914400"/>
          </a:xfrm>
          <a:prstGeom prst="rect">
            <a:avLst/>
          </a:prstGeom>
          <a:noFill/>
          <a:ln/>
        </p:spPr>
        <p:txBody>
          <a:bodyPr wrap="square" rtlCol="0" anchor="ctr"/>
          <a:lstStyle/>
          <a:p>
            <a:pPr indent="0" marL="0">
              <a:lnSpc>
                <a:spcPts val="2000"/>
              </a:lnSpc>
              <a:buNone/>
            </a:pPr>
            <a:r>
              <a:rPr lang="en-US" sz="1400" dirty="0">
                <a:solidFill>
                  <a:srgbClr val="D6E8EA"/>
                </a:solidFill>
                <a:latin typeface="Arial" pitchFamily="34" charset="0"/>
                <a:ea typeface="Arial" pitchFamily="34" charset="-122"/>
                <a:cs typeface="Arial" pitchFamily="34" charset="-120"/>
              </a:rPr>
              <a:t>This document is meant to demonstrate that we've studied NEIPL's current process closely and thought through how a complete system can work around it — while leaving the items in Section 18 open for our discussion, rather than assuming them.</a:t>
            </a:r>
            <a:endParaRPr lang="en-US" sz="1400" dirty="0"/>
          </a:p>
        </p:txBody>
      </p:sp>
      <p:sp>
        <p:nvSpPr>
          <p:cNvPr id="6" name="Text 4"/>
          <p:cNvSpPr/>
          <p:nvPr/>
        </p:nvSpPr>
        <p:spPr>
          <a:xfrm>
            <a:off x="548640" y="2697480"/>
            <a:ext cx="10789920" cy="914400"/>
          </a:xfrm>
          <a:prstGeom prst="rect">
            <a:avLst/>
          </a:prstGeom>
          <a:noFill/>
          <a:ln/>
        </p:spPr>
        <p:txBody>
          <a:bodyPr wrap="square" rtlCol="0" anchor="ctr"/>
          <a:lstStyle/>
          <a:p>
            <a:pPr indent="0" marL="0">
              <a:lnSpc>
                <a:spcPts val="2000"/>
              </a:lnSpc>
              <a:buNone/>
            </a:pPr>
            <a:r>
              <a:rPr lang="en-US" sz="1400" dirty="0">
                <a:solidFill>
                  <a:srgbClr val="D6E8EA"/>
                </a:solidFill>
                <a:latin typeface="Arial" pitchFamily="34" charset="0"/>
                <a:ea typeface="Arial" pitchFamily="34" charset="-122"/>
                <a:cs typeface="Arial" pitchFamily="34" charset="-120"/>
              </a:rPr>
              <a:t>We propose using our upcoming meeting to walk through this document together, validate our understanding, and work through the discovery items. Once confirmed, we'll finalize the detailed technical scope and commercial quotation as a separate document.</a:t>
            </a:r>
            <a:endParaRPr lang="en-US" sz="1400" dirty="0"/>
          </a:p>
        </p:txBody>
      </p:sp>
      <p:sp>
        <p:nvSpPr>
          <p:cNvPr id="7" name="Shape 5"/>
          <p:cNvSpPr/>
          <p:nvPr/>
        </p:nvSpPr>
        <p:spPr>
          <a:xfrm>
            <a:off x="548640" y="5212080"/>
            <a:ext cx="10881360" cy="0"/>
          </a:xfrm>
          <a:prstGeom prst="line">
            <a:avLst/>
          </a:prstGeom>
          <a:noFill/>
          <a:ln w="12700">
            <a:solidFill>
              <a:srgbClr val="1596B0"/>
            </a:solidFill>
            <a:prstDash val="solid"/>
          </a:ln>
        </p:spPr>
      </p:sp>
      <p:pic>
        <p:nvPicPr>
          <p:cNvPr id="8" name="Image 0" descr="/home/claude/work/proposal2/assets/logo-cutout-cropped.png">    </p:cNvPr>
          <p:cNvPicPr>
            <a:picLocks noChangeAspect="1"/>
          </p:cNvPicPr>
          <p:nvPr/>
        </p:nvPicPr>
        <p:blipFill>
          <a:blip r:embed="rId1"/>
          <a:stretch>
            <a:fillRect/>
          </a:stretch>
        </p:blipFill>
        <p:spPr>
          <a:xfrm>
            <a:off x="548640" y="5440680"/>
            <a:ext cx="384048" cy="347472"/>
          </a:xfrm>
          <a:prstGeom prst="rect">
            <a:avLst/>
          </a:prstGeom>
        </p:spPr>
      </p:pic>
      <p:sp>
        <p:nvSpPr>
          <p:cNvPr id="9" name="Text 6"/>
          <p:cNvSpPr/>
          <p:nvPr/>
        </p:nvSpPr>
        <p:spPr>
          <a:xfrm>
            <a:off x="1051560" y="5394960"/>
            <a:ext cx="274320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UniCord</a:t>
            </a:r>
            <a:endParaRPr lang="en-US" sz="1500" dirty="0"/>
          </a:p>
        </p:txBody>
      </p:sp>
      <p:sp>
        <p:nvSpPr>
          <p:cNvPr id="10" name="Text 7"/>
          <p:cNvSpPr/>
          <p:nvPr/>
        </p:nvSpPr>
        <p:spPr>
          <a:xfrm>
            <a:off x="1051560" y="5760720"/>
            <a:ext cx="4572000" cy="320040"/>
          </a:xfrm>
          <a:prstGeom prst="rect">
            <a:avLst/>
          </a:prstGeom>
          <a:noFill/>
          <a:ln/>
        </p:spPr>
        <p:txBody>
          <a:bodyPr wrap="square" rtlCol="0" anchor="ctr"/>
          <a:lstStyle/>
          <a:p>
            <a:pPr indent="0" marL="0">
              <a:buNone/>
            </a:pPr>
            <a:r>
              <a:rPr lang="en-US" sz="1150" dirty="0">
                <a:solidFill>
                  <a:srgbClr val="9FB8B9"/>
                </a:solidFill>
                <a:latin typeface="Arial" pitchFamily="34" charset="0"/>
                <a:ea typeface="Arial" pitchFamily="34" charset="-122"/>
                <a:cs typeface="Arial" pitchFamily="34" charset="-120"/>
              </a:rPr>
              <a:t>Aniket Prasad  ·  unicord.in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2026-09-16T03:38:16Z</dcterms:created>
  <dcterms:modified xsi:type="dcterms:W3CDTF">2026-09-16T03:38:16Z</dcterms:modified>
</cp:coreProperties>
</file>